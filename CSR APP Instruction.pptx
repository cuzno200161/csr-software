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handoutMasterIdLst>
    <p:handoutMasterId r:id="rId17"/>
  </p:handoutMasterIdLst>
  <p:sldIdLst>
    <p:sldId id="256" r:id="rId3"/>
    <p:sldId id="262" r:id="rId4"/>
    <p:sldId id="267" r:id="rId5"/>
    <p:sldId id="268" r:id="rId6"/>
    <p:sldId id="258" r:id="rId7"/>
    <p:sldId id="269" r:id="rId9"/>
    <p:sldId id="263" r:id="rId10"/>
    <p:sldId id="264" r:id="rId11"/>
    <p:sldId id="257" r:id="rId12"/>
    <p:sldId id="265" r:id="rId13"/>
    <p:sldId id="266" r:id="rId14"/>
    <p:sldId id="260" r:id="rId15"/>
    <p:sldId id="26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Ho" initials="CH"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95"/>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commentAuthors" Target="commentAuthors.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handoutMaster" Target="handoutMasters/handoutMaster1.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542D3B-516C-4540-A2E1-374EBBF9159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ltLang="en-US" dirty="0"/>
              <a:t>CSR APP Instruction</a:t>
            </a:r>
            <a:endParaRPr lang="en-US" altLang="en-US" dirty="0"/>
          </a:p>
        </p:txBody>
      </p:sp>
      <p:sp>
        <p:nvSpPr>
          <p:cNvPr id="3" name="Subtitle 2"/>
          <p:cNvSpPr>
            <a:spLocks noGrp="1"/>
          </p:cNvSpPr>
          <p:nvPr>
            <p:ph type="subTitle" idx="1"/>
          </p:nvPr>
        </p:nvSpPr>
        <p:spPr/>
        <p:txBody>
          <a:bodyPr/>
          <a:lstStyle/>
          <a:p>
            <a:r>
              <a:rPr lang="en-US"/>
              <a:t>Sept 2025</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Disclaimer</a:t>
            </a:r>
            <a:endParaRPr lang="en-US"/>
          </a:p>
        </p:txBody>
      </p:sp>
      <p:sp>
        <p:nvSpPr>
          <p:cNvPr id="3" name="Content Placeholder 2"/>
          <p:cNvSpPr>
            <a:spLocks noGrp="1"/>
          </p:cNvSpPr>
          <p:nvPr>
            <p:ph idx="1"/>
          </p:nvPr>
        </p:nvSpPr>
        <p:spPr/>
        <p:txBody>
          <a:bodyPr>
            <a:normAutofit fontScale="90000"/>
          </a:bodyPr>
          <a:p>
            <a:pPr marL="0" indent="0">
              <a:buNone/>
            </a:pPr>
            <a:r>
              <a:rPr lang="en-US" altLang="zh-CN"/>
              <a:t>This software is provided free of charge for anyone to download and use. While every effort has been made to ensure its functionality and stability, the developers make no warranties or guarantees regarding the accuracy, reliability, or suitability of the results produced.</a:t>
            </a:r>
            <a:endParaRPr lang="en-US" altLang="zh-CN"/>
          </a:p>
          <a:p>
            <a:pPr marL="0" indent="0">
              <a:buNone/>
            </a:pPr>
            <a:r>
              <a:rPr lang="en-US" altLang="zh-CN"/>
              <a:t>Users are solely responsible for how they interpret, apply, or rely upon any outputs generated by the software. The developers shall not be held liable for any errors, misinterpretations, losses, or consequences arising from its use.</a:t>
            </a:r>
            <a:endParaRPr lang="en-US" altLang="zh-CN"/>
          </a:p>
          <a:p>
            <a:pPr marL="0" indent="0">
              <a:buNone/>
            </a:pPr>
            <a:r>
              <a:rPr lang="en-US" altLang="zh-CN"/>
              <a:t>Furthermore, the developers do not collect, store, or retain any user data. All computations and outputs remain entirely under the user’s control.</a:t>
            </a:r>
            <a:endParaRPr lang="en-US" altLang="zh-CN"/>
          </a:p>
          <a:p>
            <a:pPr marL="0" indent="0">
              <a:buNone/>
            </a:pPr>
            <a:r>
              <a:rPr lang="en-US" altLang="zh-CN"/>
              <a:t>By downloading or using this software, the user acknowledges and agrees to these terms.</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Terminology</a:t>
            </a:r>
            <a:endParaRPr lang="en-US" altLang="zh-CN"/>
          </a:p>
        </p:txBody>
      </p:sp>
      <p:sp>
        <p:nvSpPr>
          <p:cNvPr id="3" name="内容占位符 2"/>
          <p:cNvSpPr>
            <a:spLocks noGrp="1"/>
          </p:cNvSpPr>
          <p:nvPr>
            <p:ph idx="1"/>
          </p:nvPr>
        </p:nvSpPr>
        <p:spPr>
          <a:xfrm>
            <a:off x="888365" y="1611630"/>
            <a:ext cx="11492230" cy="4351655"/>
          </a:xfrm>
        </p:spPr>
        <p:txBody>
          <a:bodyPr>
            <a:normAutofit fontScale="25000"/>
          </a:bodyPr>
          <a:p>
            <a:pPr marL="0" indent="0">
              <a:buNone/>
            </a:pPr>
            <a:r>
              <a:rPr lang="en-US" altLang="zh-CN" sz="6400" b="1"/>
              <a:t>1. CSR Equation (Complex Systems Response Equation)</a:t>
            </a:r>
            <a:endParaRPr lang="en-US" altLang="zh-CN" sz="6400" b="1"/>
          </a:p>
          <a:p>
            <a:pPr marL="0" indent="0">
              <a:buNone/>
            </a:pPr>
            <a:r>
              <a:rPr lang="en-US" altLang="zh-CN" sz="6400"/>
              <a:t>A deterministic, second-order nonlinear equation that quantitatively maps how multiple interacting parameters lead to an emergent system property. It expresses the relationship between controllable parameters </a:t>
            </a:r>
            <a:endParaRPr lang="en-US" altLang="zh-CN" sz="6400"/>
          </a:p>
          <a:p>
            <a:pPr marL="0" indent="0">
              <a:buNone/>
            </a:pPr>
            <a:r>
              <a:rPr lang="en-US" altLang="zh-CN" sz="6400" b="1"/>
              <a:t>2. CSR Response Surface</a:t>
            </a:r>
            <a:endParaRPr lang="en-US" altLang="zh-CN" sz="6400" b="1"/>
          </a:p>
          <a:p>
            <a:pPr marL="0" indent="0">
              <a:buNone/>
            </a:pPr>
            <a:r>
              <a:rPr lang="en-US" altLang="zh-CN" sz="6400"/>
              <a:t>A multidimensional surface defined by the CSR equation that visualizes how the emergent property changes with varying parameters. It can take the form of an elliptic or hyperbolic paraboloid, typically featuring a single global optimum.</a:t>
            </a:r>
            <a:endParaRPr lang="en-US" altLang="zh-CN" sz="6400"/>
          </a:p>
          <a:p>
            <a:pPr marL="0" indent="0">
              <a:buNone/>
            </a:pPr>
            <a:r>
              <a:rPr lang="en-US" altLang="zh-CN" sz="6400" b="1"/>
              <a:t>3. Emergent Property</a:t>
            </a:r>
            <a:endParaRPr lang="en-US" altLang="zh-CN" sz="6400" b="1"/>
          </a:p>
          <a:p>
            <a:pPr marL="0" indent="0">
              <a:buNone/>
            </a:pPr>
            <a:r>
              <a:rPr lang="en-US" altLang="zh-CN" sz="6400"/>
              <a:t>The measurable output or system-level behavior that arises from the interaction among all controllable and uncontrollable variables within a complex system.</a:t>
            </a:r>
            <a:endParaRPr lang="en-US" altLang="zh-CN" sz="6400"/>
          </a:p>
          <a:p>
            <a:pPr marL="0" indent="0">
              <a:buNone/>
            </a:pPr>
            <a:r>
              <a:rPr lang="en-US" altLang="zh-CN" sz="6400" b="1"/>
              <a:t>4. Coefficients (x</a:t>
            </a:r>
            <a:r>
              <a:rPr lang="en-US" altLang="en-US" sz="6400" b="1"/>
              <a:t>₀</a:t>
            </a:r>
            <a:r>
              <a:rPr lang="en-US" altLang="zh-CN" sz="6400" b="1"/>
              <a:t>, x</a:t>
            </a:r>
            <a:r>
              <a:rPr lang="en-US" altLang="en-US" sz="6400" b="1"/>
              <a:t>ᵢ</a:t>
            </a:r>
            <a:r>
              <a:rPr lang="en-US" altLang="zh-CN" sz="6400" b="1"/>
              <a:t>, x</a:t>
            </a:r>
            <a:r>
              <a:rPr lang="en-US" altLang="en-US" sz="6400" b="1"/>
              <a:t>ᵢᵢ</a:t>
            </a:r>
            <a:r>
              <a:rPr lang="en-US" altLang="zh-CN" sz="6400" b="1"/>
              <a:t>, x</a:t>
            </a:r>
            <a:r>
              <a:rPr lang="en-US" altLang="en-US" sz="6400" b="1"/>
              <a:t>ᵢ</a:t>
            </a:r>
            <a:r>
              <a:rPr lang="en-US" altLang="en-US" sz="6400" b="1"/>
              <a:t>ⱼ</a:t>
            </a:r>
            <a:r>
              <a:rPr lang="en-US" altLang="zh-CN" sz="6400" b="1"/>
              <a:t>)</a:t>
            </a:r>
            <a:endParaRPr lang="en-US" altLang="zh-CN" sz="6400" b="1"/>
          </a:p>
          <a:p>
            <a:pPr marL="0" indent="0">
              <a:buNone/>
            </a:pPr>
            <a:r>
              <a:rPr lang="en-US" altLang="zh-CN" sz="6400"/>
              <a:t>Adaptive parameters in the CSR equation that represent system response characteristics. Unlike fixed regression coefficients, CSR coefficients depend on time and hidden variables, making them dynamic descriptors of system behavior.</a:t>
            </a:r>
            <a:endParaRPr lang="en-US" altLang="zh-CN" sz="6400"/>
          </a:p>
          <a:p>
            <a:pPr marL="0" indent="0">
              <a:buNone/>
            </a:pPr>
            <a:r>
              <a:rPr lang="en-US" altLang="zh-CN" sz="6400">
                <a:sym typeface="+mn-ea"/>
              </a:rPr>
              <a:t>x</a:t>
            </a:r>
            <a:r>
              <a:rPr lang="en-US" altLang="en-US" sz="6400">
                <a:sym typeface="+mn-ea"/>
              </a:rPr>
              <a:t>₀: </a:t>
            </a:r>
            <a:r>
              <a:rPr lang="en-US" altLang="zh-CN" sz="6400">
                <a:sym typeface="+mn-ea"/>
              </a:rPr>
              <a:t>Baseline response or intercept term, representing the system’s intrinsic state when all controllable parameters are zero</a:t>
            </a:r>
            <a:endParaRPr lang="en-US" altLang="zh-CN" sz="6400">
              <a:sym typeface="+mn-ea"/>
            </a:endParaRPr>
          </a:p>
          <a:p>
            <a:pPr marL="0" indent="0">
              <a:buNone/>
            </a:pPr>
            <a:r>
              <a:rPr lang="en-US" altLang="zh-CN" sz="6400">
                <a:sym typeface="+mn-ea"/>
              </a:rPr>
              <a:t>x</a:t>
            </a:r>
            <a:r>
              <a:rPr lang="en-US" altLang="en-US" sz="6400">
                <a:sym typeface="+mn-ea"/>
              </a:rPr>
              <a:t>ᵢ: </a:t>
            </a:r>
            <a:r>
              <a:rPr lang="en-US" altLang="zh-CN" sz="6400">
                <a:sym typeface="+mn-ea"/>
              </a:rPr>
              <a:t>First-order response coefficient showing the direct influence of parameter c</a:t>
            </a:r>
            <a:r>
              <a:rPr lang="en-US" altLang="en-US" sz="6400">
                <a:sym typeface="+mn-ea"/>
              </a:rPr>
              <a:t>ᵢ </a:t>
            </a:r>
            <a:r>
              <a:rPr lang="en-US" altLang="zh-CN" sz="6400">
                <a:sym typeface="+mn-ea"/>
              </a:rPr>
              <a:t>on the emergent property.</a:t>
            </a:r>
            <a:endParaRPr lang="en-US" altLang="zh-CN" sz="6400">
              <a:sym typeface="+mn-ea"/>
            </a:endParaRPr>
          </a:p>
          <a:p>
            <a:pPr marL="0" indent="0">
              <a:buNone/>
            </a:pPr>
            <a:r>
              <a:rPr lang="en-US" altLang="zh-CN" sz="6400">
                <a:sym typeface="+mn-ea"/>
              </a:rPr>
              <a:t>x</a:t>
            </a:r>
            <a:r>
              <a:rPr lang="en-US" altLang="en-US" sz="6400">
                <a:sym typeface="+mn-ea"/>
              </a:rPr>
              <a:t>ᵢᵢ: </a:t>
            </a:r>
            <a:r>
              <a:rPr lang="en-US" altLang="zh-CN" sz="6400">
                <a:sym typeface="+mn-ea"/>
              </a:rPr>
              <a:t>Second-order self-interaction term that captures nonlinearity of parameter </a:t>
            </a:r>
            <a:r>
              <a:rPr lang="en-US" altLang="zh-CN" sz="6400">
                <a:sym typeface="+mn-ea"/>
              </a:rPr>
              <a:t>c</a:t>
            </a:r>
            <a:r>
              <a:rPr lang="en-US" altLang="en-US" sz="6400">
                <a:sym typeface="+mn-ea"/>
              </a:rPr>
              <a:t>ᵢ</a:t>
            </a:r>
            <a:r>
              <a:rPr lang="en-US" altLang="zh-CN" sz="6400">
                <a:sym typeface="+mn-ea"/>
              </a:rPr>
              <a:t>’s individual effect</a:t>
            </a:r>
            <a:endParaRPr lang="en-US" altLang="zh-CN" sz="6400">
              <a:sym typeface="+mn-ea"/>
            </a:endParaRPr>
          </a:p>
          <a:p>
            <a:pPr marL="0" indent="0">
              <a:buNone/>
            </a:pPr>
            <a:r>
              <a:rPr lang="en-US" altLang="zh-CN" sz="6400">
                <a:sym typeface="+mn-ea"/>
              </a:rPr>
              <a:t>x</a:t>
            </a:r>
            <a:r>
              <a:rPr lang="en-US" altLang="en-US" sz="6400">
                <a:sym typeface="+mn-ea"/>
              </a:rPr>
              <a:t>ᵢⱼ: </a:t>
            </a:r>
            <a:r>
              <a:rPr lang="en-US" altLang="zh-CN" sz="6400">
                <a:sym typeface="+mn-ea"/>
              </a:rPr>
              <a:t>Cross-interaction coefficient quantifying the coupling effect between parameters c</a:t>
            </a:r>
            <a:r>
              <a:rPr lang="en-US" altLang="en-US" sz="6400">
                <a:sym typeface="+mn-ea"/>
              </a:rPr>
              <a:t>ᵢ</a:t>
            </a:r>
            <a:r>
              <a:rPr lang="en-US" altLang="zh-CN" sz="6400">
                <a:sym typeface="+mn-ea"/>
              </a:rPr>
              <a:t> and c</a:t>
            </a:r>
            <a:r>
              <a:rPr lang="en-US" altLang="en-US" sz="6400">
                <a:sym typeface="+mn-ea"/>
              </a:rPr>
              <a:t>ⱼ</a:t>
            </a:r>
            <a:endParaRPr lang="en-US" altLang="zh-CN" sz="6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sym typeface="+mn-ea"/>
              </a:rPr>
              <a:t>Terminology</a:t>
            </a:r>
            <a:endParaRPr lang="zh-CN" altLang="en-US"/>
          </a:p>
        </p:txBody>
      </p:sp>
      <p:sp>
        <p:nvSpPr>
          <p:cNvPr id="3" name="内容占位符 2"/>
          <p:cNvSpPr>
            <a:spLocks noGrp="1"/>
          </p:cNvSpPr>
          <p:nvPr>
            <p:ph idx="1"/>
          </p:nvPr>
        </p:nvSpPr>
        <p:spPr>
          <a:xfrm>
            <a:off x="838200" y="1691005"/>
            <a:ext cx="10515600" cy="4351338"/>
          </a:xfrm>
        </p:spPr>
        <p:txBody>
          <a:bodyPr>
            <a:normAutofit fontScale="25000"/>
          </a:bodyPr>
          <a:p>
            <a:pPr marL="0" indent="0">
              <a:buNone/>
            </a:pPr>
            <a:r>
              <a:rPr lang="en-US" altLang="zh-CN" sz="5600" b="1">
                <a:sym typeface="+mn-ea"/>
              </a:rPr>
              <a:t>5. </a:t>
            </a:r>
            <a:r>
              <a:rPr lang="en-US" altLang="zh-CN" sz="5600" b="1">
                <a:sym typeface="+mn-ea"/>
              </a:rPr>
              <a:t>Orthogonal Array Composite Design (OACD)</a:t>
            </a:r>
            <a:endParaRPr lang="en-US" altLang="zh-CN" sz="5600" b="1"/>
          </a:p>
          <a:p>
            <a:pPr marL="0" indent="0">
              <a:buNone/>
            </a:pPr>
            <a:r>
              <a:rPr lang="en-US" altLang="zh-CN" sz="5600">
                <a:sym typeface="+mn-ea"/>
              </a:rPr>
              <a:t>A design-of-experiments (DOE) method that determines the minimal number of calibration tests needed to estimate CSR coefficients.</a:t>
            </a:r>
            <a:endParaRPr lang="en-US" altLang="zh-CN" sz="5600"/>
          </a:p>
          <a:p>
            <a:pPr marL="0" indent="0">
              <a:buNone/>
            </a:pPr>
            <a:r>
              <a:rPr lang="en-US" altLang="zh-CN" sz="5600">
                <a:sym typeface="+mn-ea"/>
              </a:rPr>
              <a:t>For P parameters, only (P</a:t>
            </a:r>
            <a:r>
              <a:rPr lang="en-US" altLang="en-US" sz="5600">
                <a:sym typeface="+mn-ea"/>
              </a:rPr>
              <a:t>²</a:t>
            </a:r>
            <a:r>
              <a:rPr lang="en-US" altLang="zh-CN" sz="5600">
                <a:sym typeface="+mn-ea"/>
              </a:rPr>
              <a:t> + 3P + 2)/2 tests are required instead of exploring all possible combinations.</a:t>
            </a:r>
            <a:endParaRPr lang="en-US" altLang="zh-CN" sz="5600"/>
          </a:p>
          <a:p>
            <a:pPr marL="0" indent="0">
              <a:buNone/>
            </a:pPr>
            <a:r>
              <a:rPr lang="en-US" altLang="zh-CN" sz="5600" b="1">
                <a:sym typeface="+mn-ea"/>
              </a:rPr>
              <a:t>6. Calibration (Fitting) Process</a:t>
            </a:r>
            <a:endParaRPr lang="en-US" altLang="zh-CN" sz="5600" b="1"/>
          </a:p>
          <a:p>
            <a:pPr marL="0" indent="0">
              <a:buNone/>
            </a:pPr>
            <a:r>
              <a:rPr lang="en-US" altLang="zh-CN" sz="5600">
                <a:sym typeface="+mn-ea"/>
              </a:rPr>
              <a:t>The procedure of determining CSR coefficients by fitting experimental or simulated data according to the OACD-designed test matrix.</a:t>
            </a:r>
            <a:endParaRPr lang="en-US" altLang="zh-CN" sz="5600"/>
          </a:p>
          <a:p>
            <a:pPr marL="0" indent="0">
              <a:buNone/>
            </a:pPr>
            <a:r>
              <a:rPr lang="en-US" altLang="zh-CN" sz="5600" b="1">
                <a:sym typeface="+mn-ea"/>
              </a:rPr>
              <a:t>7. Extremum (Global Optimum)</a:t>
            </a:r>
            <a:endParaRPr lang="en-US" altLang="zh-CN" sz="5600" b="1"/>
          </a:p>
          <a:p>
            <a:pPr marL="0" indent="0">
              <a:buNone/>
            </a:pPr>
            <a:r>
              <a:rPr lang="en-US" altLang="zh-CN" sz="5600">
                <a:sym typeface="+mn-ea"/>
              </a:rPr>
              <a:t>The maximum or minimum point on the CSR surface representing the best achievable system performance under given constraints.</a:t>
            </a:r>
            <a:endParaRPr lang="en-US" altLang="zh-CN" sz="5600"/>
          </a:p>
          <a:p>
            <a:pPr marL="0" indent="0">
              <a:buNone/>
            </a:pPr>
            <a:r>
              <a:rPr lang="en-US" altLang="zh-CN" sz="5600" b="1">
                <a:sym typeface="+mn-ea"/>
              </a:rPr>
              <a:t>8. Normalization</a:t>
            </a:r>
            <a:endParaRPr lang="en-US" altLang="zh-CN" sz="5600" b="1"/>
          </a:p>
          <a:p>
            <a:pPr marL="0" indent="0">
              <a:buNone/>
            </a:pPr>
            <a:r>
              <a:rPr lang="en-US" altLang="zh-CN" sz="5600">
                <a:sym typeface="+mn-ea"/>
              </a:rPr>
              <a:t>Normalize the maximum/minimum of parameter range to [-1, 1] or [0, 1]</a:t>
            </a:r>
            <a:endParaRPr lang="en-US" altLang="zh-CN" sz="5600">
              <a:sym typeface="+mn-ea"/>
            </a:endParaRPr>
          </a:p>
          <a:p>
            <a:pPr marL="0" indent="0">
              <a:buNone/>
            </a:pPr>
            <a:r>
              <a:rPr lang="en-US" altLang="zh-CN" sz="5600" b="1">
                <a:sym typeface="+mn-ea"/>
              </a:rPr>
              <a:t>9. Model Fit Metrics (R</a:t>
            </a:r>
            <a:r>
              <a:rPr lang="en-US" altLang="en-US" sz="5600" b="1">
                <a:sym typeface="+mn-ea"/>
              </a:rPr>
              <a:t>²</a:t>
            </a:r>
            <a:r>
              <a:rPr lang="en-US" altLang="zh-CN" sz="5600" b="1">
                <a:sym typeface="+mn-ea"/>
              </a:rPr>
              <a:t>, MSE)</a:t>
            </a:r>
            <a:endParaRPr lang="en-US" altLang="zh-CN" sz="5600" b="1"/>
          </a:p>
          <a:p>
            <a:pPr marL="0" indent="0">
              <a:buNone/>
            </a:pPr>
            <a:r>
              <a:rPr lang="en-US" altLang="zh-CN" sz="5600">
                <a:sym typeface="+mn-ea"/>
              </a:rPr>
              <a:t>Quantitative measures used to evaluate the CSR model:</a:t>
            </a:r>
            <a:endParaRPr lang="en-US" altLang="zh-CN" sz="5600"/>
          </a:p>
          <a:p>
            <a:pPr marL="0" indent="0">
              <a:buNone/>
            </a:pPr>
            <a:r>
              <a:rPr lang="en-US" altLang="zh-CN" sz="5600">
                <a:sym typeface="+mn-ea"/>
              </a:rPr>
              <a:t>R</a:t>
            </a:r>
            <a:r>
              <a:rPr lang="en-US" altLang="en-US" sz="5600">
                <a:sym typeface="+mn-ea"/>
              </a:rPr>
              <a:t>²</a:t>
            </a:r>
            <a:r>
              <a:rPr lang="en-US" altLang="zh-CN" sz="5600">
                <a:sym typeface="+mn-ea"/>
              </a:rPr>
              <a:t> (Coefficient of Determination): Indicates how well the CSR equation explains observed data.</a:t>
            </a:r>
            <a:endParaRPr lang="en-US" altLang="zh-CN" sz="5600"/>
          </a:p>
          <a:p>
            <a:pPr marL="0" indent="0">
              <a:buNone/>
            </a:pPr>
            <a:r>
              <a:rPr lang="en-US" altLang="zh-CN" sz="5600">
                <a:sym typeface="+mn-ea"/>
              </a:rPr>
              <a:t>MSE (Mean Squared Error): Measures prediction error between actual and modeled results.</a:t>
            </a:r>
            <a:endParaRPr lang="en-US" altLang="zh-CN" sz="5600">
              <a:sym typeface="+mn-ea"/>
            </a:endParaRPr>
          </a:p>
          <a:p>
            <a:pPr marL="0" indent="0">
              <a:buNone/>
            </a:pPr>
            <a:r>
              <a:rPr lang="en-US" altLang="zh-CN" sz="5600" b="1">
                <a:sym typeface="+mn-ea"/>
              </a:rPr>
              <a:t>10. CSR Surface Plot</a:t>
            </a:r>
            <a:endParaRPr lang="en-US" altLang="zh-CN" sz="5600" b="1"/>
          </a:p>
          <a:p>
            <a:pPr marL="0" indent="0">
              <a:buNone/>
            </a:pPr>
            <a:r>
              <a:rPr lang="en-US" altLang="zh-CN" sz="5600">
                <a:sym typeface="+mn-ea"/>
              </a:rPr>
              <a:t>Visual representations of the CSR response surface, showing parameter interactions and system trends. The extremum point corresponds to the optimal condition predicted by the CSR model</a:t>
            </a:r>
            <a:endParaRPr lang="en-US" altLang="zh-CN" sz="5600"/>
          </a:p>
          <a:p>
            <a:endParaRPr lang="en-US" altLang="zh-CN" sz="5600"/>
          </a:p>
          <a:p>
            <a:endParaRPr lang="zh-CN" altLang="en-US" sz="56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4275" y="1517839"/>
            <a:ext cx="11753106" cy="3917950"/>
          </a:xfrm>
          <a:prstGeom prst="rect">
            <a:avLst/>
          </a:prstGeom>
          <a:noFill/>
        </p:spPr>
        <p:txBody>
          <a:bodyPr wrap="square" rtlCol="0">
            <a:spAutoFit/>
          </a:bodyPr>
          <a:lstStyle/>
          <a:p>
            <a:pPr algn="ctr"/>
            <a:r>
              <a:rPr lang="en-US" sz="2400" b="1" dirty="0"/>
              <a:t>CSR Equation</a:t>
            </a:r>
            <a:endParaRPr lang="en-US" sz="2400" b="1" dirty="0"/>
          </a:p>
          <a:p>
            <a:pPr algn="just">
              <a:tabLst>
                <a:tab pos="457200" algn="l"/>
              </a:tabLst>
            </a:pPr>
            <a:r>
              <a:rPr lang="en-US" sz="1600" dirty="0"/>
              <a:t>Optimization in multi-parameter space is challenging. The key roadblock is that N parameters with M levels for each parameter  form  a huge M</a:t>
            </a:r>
            <a:r>
              <a:rPr lang="en-US" sz="1600" baseline="30000" dirty="0"/>
              <a:t>N</a:t>
            </a:r>
            <a:r>
              <a:rPr lang="en-US" sz="1600" dirty="0"/>
              <a:t> search space. If trial-and-error approach is adapted,  it is a daunting task to search through the entire M</a:t>
            </a:r>
            <a:r>
              <a:rPr lang="en-US" sz="1600" baseline="30000" dirty="0"/>
              <a:t>N</a:t>
            </a:r>
            <a:r>
              <a:rPr lang="en-US" sz="1600" dirty="0"/>
              <a:t> space for the optimal parameter-level  combination. </a:t>
            </a:r>
            <a:endParaRPr lang="en-US" sz="1600" dirty="0"/>
          </a:p>
          <a:p>
            <a:pPr algn="just">
              <a:spcAft>
                <a:spcPts val="400"/>
              </a:spcAft>
              <a:tabLst>
                <a:tab pos="457200" algn="l"/>
              </a:tabLst>
            </a:pPr>
            <a:r>
              <a:rPr lang="en-US" sz="1600" dirty="0"/>
              <a:t>With an artificial neural networks analysis of a set of test data, the input-output response was found to be a smooth surface. The complex system response (CSR) surface can be represented by the CSR equation. </a:t>
            </a:r>
            <a:endParaRPr lang="en-US" sz="1600" dirty="0"/>
          </a:p>
          <a:p>
            <a:pPr algn="just">
              <a:spcAft>
                <a:spcPts val="400"/>
              </a:spcAft>
            </a:pPr>
            <a:endParaRPr lang="en-US" sz="1600" dirty="0"/>
          </a:p>
          <a:p>
            <a:pPr algn="just">
              <a:spcAft>
                <a:spcPts val="400"/>
              </a:spcAft>
            </a:pPr>
            <a:endParaRPr lang="en-US" sz="1600" dirty="0"/>
          </a:p>
          <a:p>
            <a:pPr algn="just">
              <a:spcAft>
                <a:spcPts val="400"/>
              </a:spcAft>
            </a:pPr>
            <a:r>
              <a:rPr lang="en-US" sz="1600" dirty="0"/>
              <a:t>                                                                                                                                                                                                                  ……………… Equation (1)</a:t>
            </a:r>
            <a:endParaRPr lang="en-US" sz="1600" dirty="0"/>
          </a:p>
          <a:p>
            <a:pPr algn="just">
              <a:spcAft>
                <a:spcPts val="400"/>
              </a:spcAft>
            </a:pPr>
            <a:endParaRPr lang="en-US" sz="1600" dirty="0"/>
          </a:p>
          <a:p>
            <a:pPr algn="just">
              <a:spcAft>
                <a:spcPts val="400"/>
              </a:spcAft>
              <a:tabLst>
                <a:tab pos="457200" algn="l"/>
              </a:tabLst>
            </a:pPr>
            <a:r>
              <a:rPr lang="en-US" altLang="zh-CN" sz="1600" kern="100" dirty="0">
                <a:ea typeface="宋体" panose="02010600030101010101" pitchFamily="2" charset="-122"/>
                <a:cs typeface="Calibri" panose="020F0502020204030204" charset="0"/>
              </a:rPr>
              <a:t>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are the levels,  E(c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t) is the outcome.  x</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ij</a:t>
            </a:r>
            <a:r>
              <a:rPr lang="en-US" altLang="zh-CN" sz="1600" kern="100" dirty="0">
                <a:ea typeface="宋体" panose="02010600030101010101" pitchFamily="2" charset="-122"/>
                <a:cs typeface="Calibri" panose="020F0502020204030204" charset="0"/>
              </a:rPr>
              <a:t>, are coefficients to be determined by experiments. These coefficients are functions of the independent variables, i.e. time and 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and hence are not constants.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are the undefined or unknown parameters. By definition, Function-1 is not a mathematical equation. The number of coefficients is [1+P+P+P(P−1)/2 = [(P2+3P+2)/2]. Hence, only  small number of calibration tests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can find the optimal output instead of searching in a large L</a:t>
            </a:r>
            <a:r>
              <a:rPr lang="en-US" altLang="zh-CN" sz="1600" kern="100" baseline="30000" dirty="0">
                <a:ea typeface="宋体" panose="02010600030101010101" pitchFamily="2" charset="-122"/>
                <a:cs typeface="Calibri" panose="020F0502020204030204" charset="0"/>
              </a:rPr>
              <a:t>P</a:t>
            </a:r>
            <a:r>
              <a:rPr lang="en-US" altLang="zh-CN" sz="1600" kern="100" dirty="0">
                <a:ea typeface="宋体" panose="02010600030101010101" pitchFamily="2" charset="-122"/>
                <a:cs typeface="Calibri" panose="020F0502020204030204" charset="0"/>
              </a:rPr>
              <a:t> space. </a:t>
            </a:r>
            <a:endParaRPr lang="en-US" altLang="zh-CN" sz="1600" kern="100" dirty="0">
              <a:ea typeface="宋体" panose="02010600030101010101" pitchFamily="2" charset="-122"/>
              <a:cs typeface="Calibri" panose="020F0502020204030204" charset="0"/>
            </a:endParaRPr>
          </a:p>
        </p:txBody>
      </p:sp>
      <p:sp>
        <p:nvSpPr>
          <p:cNvPr id="18" name="TextBox 17"/>
          <p:cNvSpPr txBox="1"/>
          <p:nvPr/>
        </p:nvSpPr>
        <p:spPr>
          <a:xfrm>
            <a:off x="8025918" y="2110488"/>
            <a:ext cx="184731" cy="369332"/>
          </a:xfrm>
          <a:prstGeom prst="rect">
            <a:avLst/>
          </a:prstGeom>
          <a:noFill/>
        </p:spPr>
        <p:txBody>
          <a:bodyPr wrap="none" rtlCol="0">
            <a:spAutoFit/>
          </a:bodyPr>
          <a:lstStyle/>
          <a:p>
            <a:endParaRPr lang="en-US" dirty="0"/>
          </a:p>
        </p:txBody>
      </p:sp>
      <p:sp>
        <p:nvSpPr>
          <p:cNvPr id="3" name="Title 2"/>
          <p:cNvSpPr>
            <a:spLocks noGrp="1"/>
          </p:cNvSpPr>
          <p:nvPr>
            <p:ph type="title"/>
          </p:nvPr>
        </p:nvSpPr>
        <p:spPr/>
        <p:txBody>
          <a:bodyPr/>
          <a:p>
            <a:r>
              <a:rPr lang="en-US"/>
              <a:t>Introduction to CSR Equation</a:t>
            </a:r>
            <a:endParaRPr lang="en-US"/>
          </a:p>
        </p:txBody>
      </p:sp>
      <p:pic>
        <p:nvPicPr>
          <p:cNvPr id="5" name="图片 4"/>
          <p:cNvPicPr>
            <a:picLocks noChangeAspect="1"/>
          </p:cNvPicPr>
          <p:nvPr/>
        </p:nvPicPr>
        <p:blipFill>
          <a:blip r:embed="rId1"/>
          <a:stretch>
            <a:fillRect/>
          </a:stretch>
        </p:blipFill>
        <p:spPr>
          <a:xfrm>
            <a:off x="549910" y="3300730"/>
            <a:ext cx="9133205" cy="9664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Introduction to CSR Equation</a:t>
            </a:r>
            <a:endParaRPr lang="zh-CN" altLang="en-US"/>
          </a:p>
        </p:txBody>
      </p:sp>
      <p:sp>
        <p:nvSpPr>
          <p:cNvPr id="3" name="内容占位符 2"/>
          <p:cNvSpPr>
            <a:spLocks noGrp="1"/>
          </p:cNvSpPr>
          <p:nvPr>
            <p:ph idx="1"/>
          </p:nvPr>
        </p:nvSpPr>
        <p:spPr/>
        <p:txBody>
          <a:bodyPr/>
          <a:p>
            <a:pPr marL="0" indent="0">
              <a:buNone/>
            </a:pPr>
            <a:r>
              <a:rPr lang="en-US" altLang="zh-CN" sz="2000"/>
              <a:t>The CSR equation is the transfer function between input and output. C</a:t>
            </a:r>
            <a:r>
              <a:rPr lang="en-US" altLang="zh-CN" sz="2000" baseline="-25000"/>
              <a:t>i</a:t>
            </a:r>
            <a:r>
              <a:rPr lang="en-US" altLang="zh-CN" sz="2000"/>
              <a:t> is the level of a parameter and is an independent variable.  Coefficients of the CSR equation contain the information of the system response to the parameters and the levels. The coefficients are unknowns. For P parameters, there are [(P</a:t>
            </a:r>
            <a:r>
              <a:rPr lang="en-US" altLang="zh-CN" sz="2000" baseline="30000"/>
              <a:t>2</a:t>
            </a:r>
            <a:r>
              <a:rPr lang="en-US" altLang="zh-CN" sz="2000"/>
              <a:t>+3P+2)/2] coefficients (Table 1).  	</a:t>
            </a:r>
            <a:endParaRPr lang="en-US" altLang="zh-CN" sz="2000"/>
          </a:p>
          <a:p>
            <a:pPr marL="0" indent="0">
              <a:buNone/>
            </a:pPr>
            <a:r>
              <a:rPr lang="en-US" altLang="zh-CN" sz="2000"/>
              <a:t>The (P</a:t>
            </a:r>
            <a:r>
              <a:rPr lang="en-US" altLang="zh-CN" sz="2000" baseline="30000"/>
              <a:t>2</a:t>
            </a:r>
            <a:r>
              <a:rPr lang="en-US" altLang="zh-CN" sz="2000"/>
              <a:t>+3P+2)/2 tests can save order of magnitude orders of efforts, time and cost than searching through the entire N</a:t>
            </a:r>
            <a:r>
              <a:rPr lang="en-US" altLang="zh-CN" sz="2000" baseline="30000"/>
              <a:t>M</a:t>
            </a:r>
            <a:r>
              <a:rPr lang="en-US" altLang="zh-CN" sz="2000"/>
              <a:t> space.  </a:t>
            </a:r>
            <a:endParaRPr lang="en-US" altLang="zh-CN" sz="2000"/>
          </a:p>
        </p:txBody>
      </p:sp>
      <p:graphicFrame>
        <p:nvGraphicFramePr>
          <p:cNvPr id="4" name="Table 1"/>
          <p:cNvGraphicFramePr>
            <a:graphicFrameLocks noGrp="1"/>
          </p:cNvGraphicFramePr>
          <p:nvPr/>
        </p:nvGraphicFramePr>
        <p:xfrm>
          <a:off x="3221829" y="4614516"/>
          <a:ext cx="5411052" cy="2011680"/>
        </p:xfrm>
        <a:graphic>
          <a:graphicData uri="http://schemas.openxmlformats.org/drawingml/2006/table">
            <a:tbl>
              <a:tblPr firstRow="1" bandRow="1">
                <a:tableStyleId>{5940675A-B579-460E-94D1-54222C63F5DA}</a:tableStyleId>
              </a:tblPr>
              <a:tblGrid>
                <a:gridCol w="1803684"/>
                <a:gridCol w="1803684"/>
                <a:gridCol w="1803684"/>
              </a:tblGrid>
              <a:tr h="123829">
                <a:tc>
                  <a:txBody>
                    <a:bodyPr/>
                    <a:lstStyle/>
                    <a:p>
                      <a:pPr algn="ctr"/>
                      <a:r>
                        <a:rPr lang="en-US" sz="1050" dirty="0"/>
                        <a:t>No. of Parameters</a:t>
                      </a:r>
                      <a:endParaRPr lang="en-US" sz="1050" dirty="0"/>
                    </a:p>
                  </a:txBody>
                  <a:tcPr/>
                </a:tc>
                <a:tc>
                  <a:txBody>
                    <a:bodyPr/>
                    <a:lstStyle/>
                    <a:p>
                      <a:pPr algn="ctr"/>
                      <a:r>
                        <a:rPr lang="en-US" sz="1050" kern="100" dirty="0">
                          <a:ea typeface="宋体" panose="02010600030101010101" pitchFamily="2" charset="-122"/>
                          <a:cs typeface="Calibri" panose="020F0502020204030204" charset="0"/>
                        </a:rPr>
                        <a:t>(N</a:t>
                      </a:r>
                      <a:r>
                        <a:rPr lang="en-US" sz="1050" kern="100" baseline="30000" dirty="0">
                          <a:ea typeface="宋体" panose="02010600030101010101" pitchFamily="2" charset="-122"/>
                          <a:cs typeface="Calibri" panose="020F0502020204030204" charset="0"/>
                        </a:rPr>
                        <a:t>2</a:t>
                      </a:r>
                      <a:r>
                        <a:rPr lang="en-US" sz="1050" kern="100" dirty="0">
                          <a:ea typeface="宋体" panose="02010600030101010101" pitchFamily="2" charset="-122"/>
                          <a:cs typeface="Calibri" panose="020F0502020204030204" charset="0"/>
                        </a:rPr>
                        <a:t>+3N+2)/2</a:t>
                      </a:r>
                      <a:endParaRPr lang="en-US" sz="1050" dirty="0"/>
                    </a:p>
                  </a:txBody>
                  <a:tcPr/>
                </a:tc>
                <a:tc>
                  <a:txBody>
                    <a:bodyPr/>
                    <a:lstStyle/>
                    <a:p>
                      <a:pPr algn="ctr"/>
                      <a:r>
                        <a:rPr lang="en-US" sz="1050" dirty="0"/>
                        <a:t>M</a:t>
                      </a:r>
                      <a:r>
                        <a:rPr lang="en-US" sz="1050" baseline="30000" dirty="0"/>
                        <a:t>N</a:t>
                      </a:r>
                      <a:r>
                        <a:rPr lang="en-US" sz="1050" dirty="0"/>
                        <a:t> (M=10)</a:t>
                      </a:r>
                      <a:endParaRPr lang="en-US" sz="1050" dirty="0"/>
                    </a:p>
                  </a:txBody>
                  <a:tcPr/>
                </a:tc>
              </a:tr>
              <a:tr h="123829">
                <a:tc>
                  <a:txBody>
                    <a:bodyPr/>
                    <a:lstStyle/>
                    <a:p>
                      <a:pPr algn="ctr"/>
                      <a:r>
                        <a:rPr lang="en-US" sz="1050" dirty="0"/>
                        <a:t>1</a:t>
                      </a:r>
                      <a:endParaRPr lang="en-US" sz="1050" dirty="0"/>
                    </a:p>
                  </a:txBody>
                  <a:tcPr/>
                </a:tc>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r>
              <a:tr h="123829">
                <a:tc>
                  <a:txBody>
                    <a:bodyPr/>
                    <a:lstStyle/>
                    <a:p>
                      <a:pPr algn="ctr"/>
                      <a:r>
                        <a:rPr lang="en-US" sz="1050" dirty="0"/>
                        <a:t>2</a:t>
                      </a:r>
                      <a:endParaRPr lang="en-US" sz="1050" dirty="0"/>
                    </a:p>
                  </a:txBody>
                  <a:tcPr/>
                </a:tc>
                <a:tc>
                  <a:txBody>
                    <a:bodyPr/>
                    <a:lstStyle/>
                    <a:p>
                      <a:pPr algn="ctr"/>
                      <a:r>
                        <a:rPr lang="en-US" sz="1050" dirty="0"/>
                        <a:t>6</a:t>
                      </a:r>
                      <a:endParaRPr lang="en-US" sz="1050" dirty="0"/>
                    </a:p>
                  </a:txBody>
                  <a:tcPr/>
                </a:tc>
                <a:tc>
                  <a:txBody>
                    <a:bodyPr/>
                    <a:lstStyle/>
                    <a:p>
                      <a:pPr algn="ctr"/>
                      <a:r>
                        <a:rPr lang="en-US" sz="1050" dirty="0"/>
                        <a:t>10</a:t>
                      </a:r>
                      <a:r>
                        <a:rPr lang="en-US" sz="1050" baseline="30000" dirty="0"/>
                        <a:t>2</a:t>
                      </a:r>
                      <a:endParaRPr lang="en-US" sz="1050" baseline="30000" dirty="0"/>
                    </a:p>
                  </a:txBody>
                  <a:tcPr/>
                </a:tc>
              </a:tr>
              <a:tr h="123829">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c>
                  <a:txBody>
                    <a:bodyPr/>
                    <a:lstStyle/>
                    <a:p>
                      <a:pPr algn="ctr"/>
                      <a:r>
                        <a:rPr lang="en-US" sz="1050" dirty="0"/>
                        <a:t>10</a:t>
                      </a:r>
                      <a:r>
                        <a:rPr lang="en-US" sz="1050" baseline="30000" dirty="0"/>
                        <a:t>3</a:t>
                      </a:r>
                      <a:endParaRPr lang="en-US" sz="1050" baseline="30000" dirty="0"/>
                    </a:p>
                  </a:txBody>
                  <a:tcPr/>
                </a:tc>
              </a:tr>
              <a:tr h="123829">
                <a:tc>
                  <a:txBody>
                    <a:bodyPr/>
                    <a:lstStyle/>
                    <a:p>
                      <a:pPr algn="ctr"/>
                      <a:r>
                        <a:rPr lang="en-US" sz="1050" dirty="0"/>
                        <a:t>4</a:t>
                      </a:r>
                      <a:endParaRPr lang="en-US" sz="1050" dirty="0"/>
                    </a:p>
                  </a:txBody>
                  <a:tcPr/>
                </a:tc>
                <a:tc>
                  <a:txBody>
                    <a:bodyPr/>
                    <a:lstStyle/>
                    <a:p>
                      <a:pPr algn="ctr"/>
                      <a:r>
                        <a:rPr lang="en-US" sz="1050" dirty="0"/>
                        <a:t>15</a:t>
                      </a:r>
                      <a:endParaRPr lang="en-US" sz="1050" dirty="0"/>
                    </a:p>
                  </a:txBody>
                  <a:tcPr/>
                </a:tc>
                <a:tc>
                  <a:txBody>
                    <a:bodyPr/>
                    <a:lstStyle/>
                    <a:p>
                      <a:pPr algn="ctr"/>
                      <a:r>
                        <a:rPr lang="en-US" sz="1050" dirty="0"/>
                        <a:t>10</a:t>
                      </a:r>
                      <a:r>
                        <a:rPr lang="en-US" sz="1050" baseline="30000" dirty="0"/>
                        <a:t>4</a:t>
                      </a:r>
                      <a:endParaRPr lang="en-US" sz="1050" baseline="30000" dirty="0"/>
                    </a:p>
                  </a:txBody>
                  <a:tcPr/>
                </a:tc>
              </a:tr>
              <a:tr h="123829">
                <a:tc>
                  <a:txBody>
                    <a:bodyPr/>
                    <a:lstStyle/>
                    <a:p>
                      <a:pPr algn="ctr"/>
                      <a:r>
                        <a:rPr lang="en-US" sz="1050" dirty="0"/>
                        <a:t>5</a:t>
                      </a:r>
                      <a:endParaRPr lang="en-US" sz="1050" dirty="0"/>
                    </a:p>
                  </a:txBody>
                  <a:tcPr/>
                </a:tc>
                <a:tc>
                  <a:txBody>
                    <a:bodyPr/>
                    <a:lstStyle/>
                    <a:p>
                      <a:pPr algn="ctr"/>
                      <a:r>
                        <a:rPr lang="en-US" sz="1050" dirty="0"/>
                        <a:t>21</a:t>
                      </a:r>
                      <a:endParaRPr lang="en-US" sz="1050" dirty="0"/>
                    </a:p>
                  </a:txBody>
                  <a:tcPr/>
                </a:tc>
                <a:tc>
                  <a:txBody>
                    <a:bodyPr/>
                    <a:lstStyle/>
                    <a:p>
                      <a:pPr algn="ctr"/>
                      <a:r>
                        <a:rPr lang="en-US" sz="1050" dirty="0"/>
                        <a:t>10</a:t>
                      </a:r>
                      <a:r>
                        <a:rPr lang="en-US" sz="1050" baseline="30000" dirty="0"/>
                        <a:t>5</a:t>
                      </a:r>
                      <a:endParaRPr lang="en-US" sz="1050" baseline="30000" dirty="0"/>
                    </a:p>
                  </a:txBody>
                  <a:tcPr/>
                </a:tc>
              </a:tr>
              <a:tr h="123829">
                <a:tc>
                  <a:txBody>
                    <a:bodyPr/>
                    <a:lstStyle/>
                    <a:p>
                      <a:pPr algn="ctr"/>
                      <a:r>
                        <a:rPr lang="en-US" sz="1050" dirty="0"/>
                        <a:t>6</a:t>
                      </a:r>
                      <a:endParaRPr lang="en-US" sz="1050" dirty="0"/>
                    </a:p>
                  </a:txBody>
                  <a:tcPr/>
                </a:tc>
                <a:tc>
                  <a:txBody>
                    <a:bodyPr/>
                    <a:lstStyle/>
                    <a:p>
                      <a:pPr algn="ctr"/>
                      <a:r>
                        <a:rPr lang="en-US" sz="1050" dirty="0"/>
                        <a:t>28</a:t>
                      </a:r>
                      <a:endParaRPr lang="en-US" sz="1050" dirty="0"/>
                    </a:p>
                  </a:txBody>
                  <a:tcPr/>
                </a:tc>
                <a:tc>
                  <a:txBody>
                    <a:bodyPr/>
                    <a:lstStyle/>
                    <a:p>
                      <a:pPr algn="ctr"/>
                      <a:r>
                        <a:rPr lang="en-US" sz="1050" dirty="0"/>
                        <a:t>10</a:t>
                      </a:r>
                      <a:r>
                        <a:rPr lang="en-US" sz="1050" baseline="30000" dirty="0"/>
                        <a:t>6</a:t>
                      </a:r>
                      <a:endParaRPr lang="en-US" sz="1050" baseline="30000" dirty="0"/>
                    </a:p>
                  </a:txBody>
                  <a:tcPr/>
                </a:tc>
              </a:tr>
              <a:tr h="123829">
                <a:tc>
                  <a:txBody>
                    <a:bodyPr/>
                    <a:lstStyle/>
                    <a:p>
                      <a:pPr algn="ctr"/>
                      <a:r>
                        <a:rPr lang="en-US" sz="1050" dirty="0"/>
                        <a:t>12</a:t>
                      </a:r>
                      <a:endParaRPr lang="en-US" sz="1050" dirty="0"/>
                    </a:p>
                  </a:txBody>
                  <a:tcPr/>
                </a:tc>
                <a:tc>
                  <a:txBody>
                    <a:bodyPr/>
                    <a:lstStyle/>
                    <a:p>
                      <a:pPr algn="ctr"/>
                      <a:r>
                        <a:rPr lang="en-US" sz="1050" dirty="0"/>
                        <a:t>91</a:t>
                      </a:r>
                      <a:endParaRPr lang="en-US" sz="1050" dirty="0"/>
                    </a:p>
                  </a:txBody>
                  <a:tcPr/>
                </a:tc>
                <a:tc>
                  <a:txBody>
                    <a:bodyPr/>
                    <a:lstStyle/>
                    <a:p>
                      <a:pPr algn="ctr"/>
                      <a:r>
                        <a:rPr lang="en-US" sz="1050" dirty="0"/>
                        <a:t>10</a:t>
                      </a:r>
                      <a:r>
                        <a:rPr lang="en-US" sz="1050" baseline="30000" dirty="0"/>
                        <a:t>12</a:t>
                      </a:r>
                      <a:endParaRPr lang="en-US" sz="1050" baseline="30000" dirty="0"/>
                    </a:p>
                  </a:txBody>
                  <a:tcPr/>
                </a:tc>
              </a:tr>
            </a:tbl>
          </a:graphicData>
        </a:graphic>
      </p:graphicFrame>
      <p:sp>
        <p:nvSpPr>
          <p:cNvPr id="6" name="TextBox 5"/>
          <p:cNvSpPr txBox="1"/>
          <p:nvPr/>
        </p:nvSpPr>
        <p:spPr>
          <a:xfrm>
            <a:off x="4273028" y="4117688"/>
            <a:ext cx="3308466" cy="369332"/>
          </a:xfrm>
          <a:prstGeom prst="rect">
            <a:avLst/>
          </a:prstGeom>
          <a:noFill/>
        </p:spPr>
        <p:txBody>
          <a:bodyPr wrap="square" rtlCol="0">
            <a:spAutoFit/>
          </a:bodyPr>
          <a:lstStyle/>
          <a:p>
            <a:r>
              <a:rPr lang="en-US" dirty="0"/>
              <a:t>Table 1:   The number of tests  </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Flow chart</a:t>
            </a:r>
            <a:endParaRPr lang="en-US"/>
          </a:p>
        </p:txBody>
      </p:sp>
      <p:sp>
        <p:nvSpPr>
          <p:cNvPr id="4" name="Rectangles 3"/>
          <p:cNvSpPr/>
          <p:nvPr/>
        </p:nvSpPr>
        <p:spPr>
          <a:xfrm>
            <a:off x="34417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t>Load data</a:t>
            </a:r>
            <a:endParaRPr lang="en-US" b="1"/>
          </a:p>
        </p:txBody>
      </p:sp>
      <p:sp>
        <p:nvSpPr>
          <p:cNvPr id="5" name="Rectangles 4"/>
          <p:cNvSpPr/>
          <p:nvPr>
            <p:custDataLst>
              <p:tags r:id="rId1"/>
            </p:custDataLst>
          </p:nvPr>
        </p:nvSpPr>
        <p:spPr>
          <a:xfrm>
            <a:off x="271335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sym typeface="+mn-ea"/>
              </a:rPr>
              <a:t>Configure settings</a:t>
            </a:r>
            <a:endParaRPr lang="en-US" b="1"/>
          </a:p>
        </p:txBody>
      </p:sp>
      <p:sp>
        <p:nvSpPr>
          <p:cNvPr id="6" name="Rectangles 5"/>
          <p:cNvSpPr/>
          <p:nvPr>
            <p:custDataLst>
              <p:tags r:id="rId2"/>
            </p:custDataLst>
          </p:nvPr>
        </p:nvSpPr>
        <p:spPr>
          <a:xfrm>
            <a:off x="745172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US" b="1"/>
              <a:t>Output</a:t>
            </a:r>
            <a:endParaRPr lang="en-US" altLang="en-US" b="1"/>
          </a:p>
        </p:txBody>
      </p:sp>
      <p:cxnSp>
        <p:nvCxnSpPr>
          <p:cNvPr id="8" name="Straight Arrow Connector 7"/>
          <p:cNvCxnSpPr>
            <a:stCxn id="4" idx="3"/>
            <a:endCxn id="5" idx="1"/>
          </p:cNvCxnSpPr>
          <p:nvPr>
            <p:custDataLst>
              <p:tags r:id="rId3"/>
            </p:custDataLst>
          </p:nvPr>
        </p:nvCxnSpPr>
        <p:spPr>
          <a:xfrm>
            <a:off x="209613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custDataLst>
              <p:tags r:id="rId4"/>
            </p:custDataLst>
          </p:nvPr>
        </p:nvSpPr>
        <p:spPr>
          <a:xfrm>
            <a:off x="2407285" y="3956050"/>
            <a:ext cx="3035300" cy="829945"/>
          </a:xfrm>
          <a:prstGeom prst="rect">
            <a:avLst/>
          </a:prstGeom>
          <a:noFill/>
        </p:spPr>
        <p:txBody>
          <a:bodyPr wrap="square" rtlCol="0" anchor="t">
            <a:spAutoFit/>
          </a:bodyPr>
          <a:p>
            <a:pPr marL="285750" indent="-285750">
              <a:buFont typeface="Arial" panose="020B0604020202020204" pitchFamily="34" charset="0"/>
              <a:buChar char="•"/>
            </a:pPr>
            <a:r>
              <a:rPr lang="en-US" sz="1600" b="1">
                <a:sym typeface="+mn-ea"/>
              </a:rPr>
              <a:t>Extremum Objective</a:t>
            </a:r>
            <a:endParaRPr lang="en-US" sz="1600" b="1">
              <a:sym typeface="+mn-ea"/>
            </a:endParaRPr>
          </a:p>
          <a:p>
            <a:pPr marL="285750" indent="-285750">
              <a:buFont typeface="Arial" panose="020B0604020202020204" pitchFamily="34" charset="0"/>
              <a:buChar char="•"/>
            </a:pPr>
            <a:r>
              <a:rPr lang="en-US" sz="1600" b="1">
                <a:sym typeface="+mn-ea"/>
              </a:rPr>
              <a:t>Normalization</a:t>
            </a:r>
            <a:endParaRPr lang="en-US" sz="1600" b="1">
              <a:sym typeface="+mn-ea"/>
            </a:endParaRPr>
          </a:p>
          <a:p>
            <a:pPr marL="285750" indent="-285750">
              <a:buFont typeface="Arial" panose="020B0604020202020204" pitchFamily="34" charset="0"/>
              <a:buChar char="•"/>
            </a:pPr>
            <a:r>
              <a:rPr lang="en-US" sz="1600" b="1">
                <a:sym typeface="+mn-ea"/>
              </a:rPr>
              <a:t>Select Factors to Include</a:t>
            </a:r>
            <a:endParaRPr lang="en-US" sz="1600" b="1">
              <a:sym typeface="+mn-ea"/>
            </a:endParaRPr>
          </a:p>
        </p:txBody>
      </p:sp>
      <p:sp>
        <p:nvSpPr>
          <p:cNvPr id="12" name="Rectangles 11"/>
          <p:cNvSpPr/>
          <p:nvPr>
            <p:custDataLst>
              <p:tags r:id="rId5"/>
            </p:custDataLst>
          </p:nvPr>
        </p:nvSpPr>
        <p:spPr>
          <a:xfrm>
            <a:off x="508254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400" b="1">
                <a:sym typeface="+mn-ea"/>
              </a:rPr>
              <a:t>Data processing</a:t>
            </a:r>
            <a:endParaRPr lang="en-US" sz="1400" b="1">
              <a:sym typeface="+mn-ea"/>
            </a:endParaRPr>
          </a:p>
          <a:p>
            <a:pPr algn="ctr"/>
            <a:r>
              <a:rPr lang="en-US" sz="1400" b="1"/>
              <a:t>based on CSR equation</a:t>
            </a:r>
            <a:endParaRPr lang="en-US" sz="1400" b="1"/>
          </a:p>
        </p:txBody>
      </p:sp>
      <p:cxnSp>
        <p:nvCxnSpPr>
          <p:cNvPr id="13" name="Straight Arrow Connector 12"/>
          <p:cNvCxnSpPr>
            <a:endCxn id="12" idx="1"/>
          </p:cNvCxnSpPr>
          <p:nvPr>
            <p:custDataLst>
              <p:tags r:id="rId6"/>
            </p:custDataLst>
          </p:nvPr>
        </p:nvCxnSpPr>
        <p:spPr>
          <a:xfrm>
            <a:off x="4465320"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Straight Arrow Connector 13"/>
          <p:cNvCxnSpPr/>
          <p:nvPr>
            <p:custDataLst>
              <p:tags r:id="rId7"/>
            </p:custDataLst>
          </p:nvPr>
        </p:nvCxnSpPr>
        <p:spPr>
          <a:xfrm>
            <a:off x="683450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custDataLst>
              <p:tags r:id="rId8"/>
            </p:custDataLst>
          </p:nvPr>
        </p:nvSpPr>
        <p:spPr>
          <a:xfrm>
            <a:off x="6785610" y="3956050"/>
            <a:ext cx="3902075" cy="2061210"/>
          </a:xfrm>
          <a:prstGeom prst="rect">
            <a:avLst/>
          </a:prstGeom>
          <a:noFill/>
        </p:spPr>
        <p:txBody>
          <a:bodyPr wrap="square" rtlCol="0" anchor="t">
            <a:spAutoFit/>
          </a:bodyPr>
          <a:p>
            <a:pPr marL="285750" indent="-285750">
              <a:buFont typeface="Arial" panose="020B0604020202020204" pitchFamily="34" charset="0"/>
              <a:buChar char="•"/>
            </a:pPr>
            <a:r>
              <a:rPr lang="en-US" altLang="en-US" sz="1600" b="1">
                <a:sym typeface="+mn-ea"/>
              </a:rPr>
              <a:t>CSR Equation</a:t>
            </a:r>
            <a:endParaRPr lang="en-US" sz="1600" b="1">
              <a:sym typeface="+mn-ea"/>
            </a:endParaRPr>
          </a:p>
          <a:p>
            <a:pPr marL="285750" indent="-285750">
              <a:buFont typeface="Arial" panose="020B0604020202020204" pitchFamily="34" charset="0"/>
              <a:buChar char="•"/>
            </a:pPr>
            <a:r>
              <a:rPr lang="en-US" altLang="en-US" sz="1600" b="1">
                <a:sym typeface="+mn-ea"/>
              </a:rPr>
              <a:t>CSR Response Surface Plot</a:t>
            </a:r>
            <a:endParaRPr lang="en-US" altLang="en-US" sz="1600" b="1">
              <a:sym typeface="+mn-ea"/>
            </a:endParaRPr>
          </a:p>
          <a:p>
            <a:pPr marL="285750" indent="-285750">
              <a:buFont typeface="Arial" panose="020B0604020202020204" pitchFamily="34" charset="0"/>
              <a:buChar char="•"/>
            </a:pPr>
            <a:r>
              <a:rPr lang="en-US" altLang="en-US" sz="1600" b="1">
                <a:sym typeface="+mn-ea"/>
              </a:rPr>
              <a:t>Extremum</a:t>
            </a:r>
            <a:endParaRPr lang="en-US" altLang="en-US" sz="1600" b="1">
              <a:sym typeface="+mn-ea"/>
            </a:endParaRPr>
          </a:p>
          <a:p>
            <a:pPr marL="285750" indent="-285750">
              <a:buFont typeface="Arial" panose="020B0604020202020204" pitchFamily="34" charset="0"/>
              <a:buChar char="•"/>
            </a:pPr>
            <a:r>
              <a:rPr lang="en-US" altLang="en-US" sz="1600" b="1">
                <a:sym typeface="+mn-ea"/>
              </a:rPr>
              <a:t>Actual vs. Predicted Values</a:t>
            </a:r>
            <a:endParaRPr lang="en-US" altLang="en-US" sz="1600" b="1">
              <a:sym typeface="+mn-ea"/>
            </a:endParaRPr>
          </a:p>
          <a:p>
            <a:pPr marL="285750" indent="-285750">
              <a:buFont typeface="Arial" panose="020B0604020202020204" pitchFamily="34" charset="0"/>
              <a:buChar char="•"/>
            </a:pPr>
            <a:r>
              <a:rPr lang="en-US" sz="1600" b="1">
                <a:sym typeface="+mn-ea"/>
              </a:rPr>
              <a:t>R-square, mean squared error</a:t>
            </a:r>
            <a:endParaRPr lang="en-US" sz="1600" b="1">
              <a:sym typeface="+mn-ea"/>
            </a:endParaRPr>
          </a:p>
          <a:p>
            <a:pPr marL="285750" indent="-285750">
              <a:buFont typeface="Arial" panose="020B0604020202020204" pitchFamily="34" charset="0"/>
              <a:buChar char="•"/>
            </a:pPr>
            <a:r>
              <a:rPr lang="en-US" altLang="en-US" sz="1600" b="1">
                <a:sym typeface="+mn-ea"/>
              </a:rPr>
              <a:t>Pie chart analysis of </a:t>
            </a:r>
            <a:r>
              <a:rPr lang="en-US" sz="1600">
                <a:sym typeface="+mn-ea"/>
              </a:rPr>
              <a:t>distribution of the CSR equation coefficients </a:t>
            </a:r>
            <a:r>
              <a:rPr lang="en-US" altLang="zh-CN" sz="1600">
                <a:sym typeface="+mn-ea"/>
              </a:rPr>
              <a:t>x</a:t>
            </a:r>
            <a:r>
              <a:rPr lang="en-US" altLang="en-US" sz="1600">
                <a:sym typeface="+mn-ea"/>
              </a:rPr>
              <a:t>₀</a:t>
            </a:r>
            <a:r>
              <a:rPr lang="en-US" altLang="zh-CN" sz="1600">
                <a:sym typeface="+mn-ea"/>
              </a:rPr>
              <a:t>, x</a:t>
            </a:r>
            <a:r>
              <a:rPr lang="en-US" altLang="en-US" sz="1600">
                <a:sym typeface="+mn-ea"/>
              </a:rPr>
              <a:t>ᵢ</a:t>
            </a:r>
            <a:r>
              <a:rPr lang="en-US" altLang="zh-CN" sz="1600">
                <a:sym typeface="+mn-ea"/>
              </a:rPr>
              <a:t>, x</a:t>
            </a:r>
            <a:r>
              <a:rPr lang="en-US" altLang="en-US" sz="1600">
                <a:sym typeface="+mn-ea"/>
              </a:rPr>
              <a:t>ᵢᵢ and </a:t>
            </a:r>
            <a:r>
              <a:rPr lang="en-US" altLang="zh-CN" sz="1600">
                <a:sym typeface="+mn-ea"/>
              </a:rPr>
              <a:t>x</a:t>
            </a:r>
            <a:r>
              <a:rPr lang="en-US" altLang="en-US" sz="1600">
                <a:sym typeface="+mn-ea"/>
              </a:rPr>
              <a:t>ᵢⱼ</a:t>
            </a:r>
            <a:endParaRPr lang="en-US" sz="1600"/>
          </a:p>
          <a:p>
            <a:pPr marL="285750" indent="-285750">
              <a:buFont typeface="Arial" panose="020B0604020202020204" pitchFamily="34" charset="0"/>
              <a:buChar char="•"/>
            </a:pPr>
            <a:endParaRPr lang="en-US" sz="1600" b="1">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Step 1 -- </a:t>
            </a:r>
            <a:r>
              <a:rPr lang="en-US" altLang="zh-CN"/>
              <a:t>OACD table generation</a:t>
            </a:r>
            <a:endParaRPr lang="en-US" altLang="zh-CN"/>
          </a:p>
        </p:txBody>
      </p:sp>
      <p:sp>
        <p:nvSpPr>
          <p:cNvPr id="3" name="内容占位符 2"/>
          <p:cNvSpPr>
            <a:spLocks noGrp="1"/>
          </p:cNvSpPr>
          <p:nvPr>
            <p:ph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Step 2 -- Load data</a:t>
            </a:r>
            <a:endParaRPr lang="en-US"/>
          </a:p>
        </p:txBody>
      </p:sp>
      <p:sp>
        <p:nvSpPr>
          <p:cNvPr id="3" name="Content Placeholder 2"/>
          <p:cNvSpPr>
            <a:spLocks noGrp="1"/>
          </p:cNvSpPr>
          <p:nvPr>
            <p:ph idx="1"/>
          </p:nvPr>
        </p:nvSpPr>
        <p:spPr/>
        <p:txBody>
          <a:bodyPr/>
          <a:p>
            <a:r>
              <a:rPr lang="en-US" altLang="en-US"/>
              <a:t>Navigate to the</a:t>
            </a:r>
            <a:r>
              <a:rPr lang="en-US"/>
              <a:t> </a:t>
            </a:r>
            <a:r>
              <a:rPr lang="en-US" b="1"/>
              <a:t>CSR Integration</a:t>
            </a:r>
            <a:r>
              <a:rPr lang="en-US"/>
              <a:t> tab --&gt; Click on </a:t>
            </a:r>
            <a:r>
              <a:rPr lang="en-US" b="1"/>
              <a:t>Select Data File</a:t>
            </a:r>
            <a:r>
              <a:rPr lang="en-US"/>
              <a:t> --&gt; Choose the </a:t>
            </a:r>
            <a:r>
              <a:rPr lang="en-US" b="1"/>
              <a:t>.xlsx</a:t>
            </a:r>
            <a:r>
              <a:rPr lang="en-US"/>
              <a:t> file containing experimental data</a:t>
            </a:r>
            <a:endParaRPr lang="en-US"/>
          </a:p>
          <a:p>
            <a:r>
              <a:rPr lang="en-US"/>
              <a:t>The .xlsx file must follow the following format:</a:t>
            </a:r>
            <a:endParaRPr lang="en-US"/>
          </a:p>
          <a:p>
            <a:pPr lvl="1"/>
            <a:r>
              <a:rPr lang="en-US" altLang="en-US"/>
              <a:t>The first row specifies the names of all factors and results</a:t>
            </a:r>
            <a:r>
              <a:rPr lang="en-US"/>
              <a:t> </a:t>
            </a:r>
            <a:endParaRPr lang="en-US"/>
          </a:p>
          <a:p>
            <a:pPr lvl="1"/>
            <a:r>
              <a:rPr lang="en-US"/>
              <a:t>S</a:t>
            </a:r>
            <a:r>
              <a:rPr lang="en-US" altLang="en-US"/>
              <a:t>ubsequent rows contain the corresponding data entries.</a:t>
            </a:r>
            <a:endParaRPr lang="en-US" altLang="en-US"/>
          </a:p>
          <a:p>
            <a:r>
              <a:rPr lang="en-US"/>
              <a:t>Example:</a:t>
            </a:r>
            <a:endParaRPr lang="en-US"/>
          </a:p>
        </p:txBody>
      </p:sp>
      <p:pic>
        <p:nvPicPr>
          <p:cNvPr id="5" name="Picture 4"/>
          <p:cNvPicPr>
            <a:picLocks noChangeAspect="1"/>
          </p:cNvPicPr>
          <p:nvPr/>
        </p:nvPicPr>
        <p:blipFill>
          <a:blip r:embed="rId1"/>
          <a:stretch>
            <a:fillRect/>
          </a:stretch>
        </p:blipFill>
        <p:spPr>
          <a:xfrm>
            <a:off x="4078605" y="4362450"/>
            <a:ext cx="4827270" cy="21564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p>
            <a:r>
              <a:rPr lang="en-US" b="1"/>
              <a:t>Global Optimum</a:t>
            </a:r>
            <a:r>
              <a:rPr lang="en-US"/>
              <a:t>: Select between Maximum, Minimum, Maximum absolute value and </a:t>
            </a:r>
            <a:r>
              <a:rPr lang="en-US">
                <a:sym typeface="+mn-ea"/>
              </a:rPr>
              <a:t>Minimum absolute value </a:t>
            </a:r>
            <a:endParaRPr lang="en-US">
              <a:sym typeface="+mn-ea"/>
            </a:endParaRPr>
          </a:p>
          <a:p>
            <a:r>
              <a:rPr lang="en-US" b="1">
                <a:sym typeface="+mn-ea"/>
              </a:rPr>
              <a:t>Normalization</a:t>
            </a:r>
            <a:r>
              <a:rPr lang="en-US">
                <a:sym typeface="+mn-ea"/>
              </a:rPr>
              <a:t>: Select between [-1, 1] and  [0, 1]</a:t>
            </a:r>
            <a:endParaRPr lang="en-US">
              <a:sym typeface="+mn-ea"/>
            </a:endParaRPr>
          </a:p>
          <a:p>
            <a:r>
              <a:rPr lang="en-US">
                <a:sym typeface="+mn-ea"/>
              </a:rPr>
              <a:t>In </a:t>
            </a:r>
            <a:r>
              <a:rPr lang="en-US" b="1">
                <a:sym typeface="+mn-ea"/>
              </a:rPr>
              <a:t>Number of control parameters</a:t>
            </a:r>
            <a:r>
              <a:rPr lang="en-US">
                <a:sym typeface="+mn-ea"/>
              </a:rPr>
              <a:t>, select the maximum number of parameters to include</a:t>
            </a:r>
            <a:endParaRPr lang="en-US">
              <a:sym typeface="+mn-ea"/>
            </a:endParaRPr>
          </a:p>
          <a:p>
            <a:endParaRPr lang="en-US" b="1">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p>
            <a:r>
              <a:rPr lang="en-US" altLang="zh-CN">
                <a:sym typeface="+mn-ea"/>
              </a:rPr>
              <a:t>Multiple objective optimization: under </a:t>
            </a:r>
            <a:r>
              <a:rPr lang="en-US" altLang="zh-CN" b="1">
                <a:sym typeface="+mn-ea"/>
              </a:rPr>
              <a:t>Parameter Selection and Factor Inclusion</a:t>
            </a:r>
            <a:r>
              <a:rPr lang="en-US" altLang="zh-CN">
                <a:sym typeface="+mn-ea"/>
              </a:rPr>
              <a:t>, select if the parameter belongs to factor, result, or ignore</a:t>
            </a:r>
            <a:endParaRPr lang="en-US" altLang="zh-CN">
              <a:sym typeface="+mn-ea"/>
            </a:endParaRPr>
          </a:p>
          <a:p>
            <a:r>
              <a:rPr lang="en-US" altLang="zh-CN">
                <a:sym typeface="+mn-ea"/>
              </a:rPr>
              <a:t>If a factor limitation is to be set, navigate to </a:t>
            </a:r>
            <a:r>
              <a:rPr lang="en-US" altLang="zh-CN" b="1">
                <a:sym typeface="+mn-ea"/>
              </a:rPr>
              <a:t>Factor Limits Section</a:t>
            </a:r>
            <a:r>
              <a:rPr lang="en-US" altLang="zh-CN">
                <a:sym typeface="+mn-ea"/>
              </a:rPr>
              <a:t>, select if the factor should be excluded or included in that limit, then set limit value at </a:t>
            </a:r>
            <a:r>
              <a:rPr lang="en-US" altLang="zh-CN" b="1">
                <a:sym typeface="+mn-ea"/>
              </a:rPr>
              <a:t>CSR Factor Limits</a:t>
            </a:r>
            <a:r>
              <a:rPr lang="en-US" altLang="zh-CN">
                <a:sym typeface="+mn-ea"/>
              </a:rPr>
              <a:t>, click add limit</a:t>
            </a:r>
            <a:endParaRPr lang="en-US" altLang="zh-CN">
              <a:sym typeface="+mn-ea"/>
            </a:endParaRPr>
          </a:p>
          <a:p>
            <a:r>
              <a:rPr lang="en-US" altLang="zh-CN">
                <a:sym typeface="+mn-ea"/>
              </a:rPr>
              <a:t>After all is set, click on </a:t>
            </a:r>
            <a:r>
              <a:rPr lang="en-US" altLang="zh-CN" b="1">
                <a:sym typeface="+mn-ea"/>
              </a:rPr>
              <a:t>Run Fitting Process</a:t>
            </a:r>
            <a:endParaRPr lang="en-US" altLang="zh-CN">
              <a:sym typeface="+mn-ea"/>
            </a:endParaRPr>
          </a:p>
          <a:p>
            <a:endParaRPr lang="en-US" altLang="zh-CN">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4 -- Output</a:t>
            </a:r>
            <a:endParaRPr lang="en-US"/>
          </a:p>
        </p:txBody>
      </p:sp>
      <p:sp>
        <p:nvSpPr>
          <p:cNvPr id="3" name="Content Placeholder 2"/>
          <p:cNvSpPr>
            <a:spLocks noGrp="1"/>
          </p:cNvSpPr>
          <p:nvPr>
            <p:ph idx="1"/>
          </p:nvPr>
        </p:nvSpPr>
        <p:spPr>
          <a:xfrm>
            <a:off x="838200" y="1825625"/>
            <a:ext cx="10515600" cy="4940935"/>
          </a:xfrm>
        </p:spPr>
        <p:txBody>
          <a:bodyPr>
            <a:normAutofit lnSpcReduction="20000"/>
          </a:bodyPr>
          <a:p>
            <a:pPr fontAlgn="auto">
              <a:lnSpc>
                <a:spcPct val="90000"/>
              </a:lnSpc>
              <a:spcBef>
                <a:spcPts val="1300"/>
              </a:spcBef>
            </a:pPr>
            <a:r>
              <a:rPr lang="en-US" altLang="en-US" b="1"/>
              <a:t>CSR Function</a:t>
            </a:r>
            <a:r>
              <a:rPr lang="en-US" altLang="en-US"/>
              <a:t> displays the numerical expression of the fitted function.</a:t>
            </a:r>
            <a:endParaRPr lang="en-US" altLang="en-US"/>
          </a:p>
          <a:p>
            <a:pPr fontAlgn="auto">
              <a:lnSpc>
                <a:spcPct val="90000"/>
              </a:lnSpc>
              <a:spcBef>
                <a:spcPts val="1300"/>
              </a:spcBef>
            </a:pPr>
            <a:r>
              <a:rPr lang="en-US" altLang="en-US" b="1"/>
              <a:t>Factor Definitions</a:t>
            </a:r>
            <a:r>
              <a:rPr lang="en-US" altLang="en-US"/>
              <a:t> list the names of the parameters used in the function.</a:t>
            </a:r>
            <a:endParaRPr lang="en-US" altLang="en-US"/>
          </a:p>
          <a:p>
            <a:pPr fontAlgn="auto">
              <a:lnSpc>
                <a:spcPct val="90000"/>
              </a:lnSpc>
              <a:spcBef>
                <a:spcPts val="1300"/>
              </a:spcBef>
            </a:pPr>
            <a:r>
              <a:rPr lang="en-US" altLang="en-US" b="1"/>
              <a:t>Extremum</a:t>
            </a:r>
            <a:r>
              <a:rPr lang="en-US" altLang="en-US"/>
              <a:t> indicates the maximum/minimum point of the plot. If multiple result columns are selected, then </a:t>
            </a:r>
            <a:r>
              <a:rPr lang="en-US" altLang="en-US" b="1"/>
              <a:t>Individual Results at Extremum</a:t>
            </a:r>
            <a:r>
              <a:rPr lang="en-US" altLang="en-US"/>
              <a:t> will be shown below</a:t>
            </a:r>
            <a:endParaRPr lang="en-US" altLang="en-US"/>
          </a:p>
          <a:p>
            <a:pPr fontAlgn="auto">
              <a:lnSpc>
                <a:spcPct val="90000"/>
              </a:lnSpc>
              <a:spcBef>
                <a:spcPts val="1300"/>
              </a:spcBef>
            </a:pPr>
            <a:r>
              <a:rPr lang="en-US" altLang="en-US" b="1"/>
              <a:t>Model Fit</a:t>
            </a:r>
            <a:r>
              <a:rPr lang="en-US" altLang="en-US"/>
              <a:t> provides the R-square and root mean square error (RMSE) value of the model</a:t>
            </a:r>
            <a:endParaRPr lang="en-US" altLang="en-US"/>
          </a:p>
          <a:p>
            <a:pPr fontAlgn="auto">
              <a:lnSpc>
                <a:spcPct val="90000"/>
              </a:lnSpc>
              <a:spcBef>
                <a:spcPts val="1300"/>
              </a:spcBef>
            </a:pPr>
            <a:r>
              <a:rPr lang="en-US" altLang="en-US" b="1"/>
              <a:t>Actual vs. Predicted Values</a:t>
            </a:r>
            <a:r>
              <a:rPr lang="en-US" altLang="en-US"/>
              <a:t> presents the deviations between predicted outcomes and observed data.</a:t>
            </a:r>
            <a:endParaRPr lang="en-US" altLang="en-US"/>
          </a:p>
          <a:p>
            <a:pPr fontAlgn="auto">
              <a:lnSpc>
                <a:spcPct val="90000"/>
              </a:lnSpc>
              <a:spcBef>
                <a:spcPts val="1300"/>
              </a:spcBef>
            </a:pPr>
            <a:r>
              <a:rPr lang="en-US" altLang="en-US" b="1"/>
              <a:t>CSR Function Surface Plot</a:t>
            </a:r>
            <a:r>
              <a:rPr lang="en-US" altLang="en-US"/>
              <a:t> provides a graphical representation of the fitted CSR function.</a:t>
            </a:r>
            <a:endParaRPr lang="en-US"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4 -- Output</a:t>
            </a: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p>
                <a:r>
                  <a:rPr lang="en-US" altLang="en-US">
                    <a:sym typeface="+mn-ea"/>
                  </a:rPr>
                  <a:t>Navigate to the</a:t>
                </a:r>
                <a:r>
                  <a:rPr lang="en-US">
                    <a:sym typeface="+mn-ea"/>
                  </a:rPr>
                  <a:t> </a:t>
                </a:r>
                <a:r>
                  <a:rPr lang="en-US" b="1">
                    <a:sym typeface="+mn-ea"/>
                  </a:rPr>
                  <a:t>Coefficient analysis</a:t>
                </a:r>
                <a:r>
                  <a:rPr lang="en-US">
                    <a:sym typeface="+mn-ea"/>
                  </a:rPr>
                  <a:t> tab after fitting is complete</a:t>
                </a:r>
                <a:endParaRPr lang="en-US">
                  <a:sym typeface="+mn-ea"/>
                </a:endParaRPr>
              </a:p>
              <a:p>
                <a:r>
                  <a:rPr lang="en-US">
                    <a:sym typeface="+mn-ea"/>
                  </a:rPr>
                  <a:t>In </a:t>
                </a:r>
                <a:r>
                  <a:rPr lang="en-US" b="1">
                    <a:sym typeface="+mn-ea"/>
                  </a:rPr>
                  <a:t>Analysis Controls </a:t>
                </a:r>
                <a:r>
                  <a:rPr lang="en-US">
                    <a:sym typeface="+mn-ea"/>
                  </a:rPr>
                  <a:t>select whether the coefficient shall be determined when the factors are at minimum, maximum or extremum</a:t>
                </a:r>
                <a:endParaRPr lang="en-US">
                  <a:sym typeface="+mn-ea"/>
                </a:endParaRPr>
              </a:p>
              <a:p>
                <a:r>
                  <a:rPr lang="en-US"/>
                  <a:t>The pie charts demonstrate the distribution of the coefficient absolute values in terms of linear (</a:t>
                </a:r>
                <a14:m>
                  <m:oMath xmlns:m="http://schemas.openxmlformats.org/officeDocument/2006/math">
                    <m:r>
                      <a:rPr lang="en-US" i="1">
                        <a:latin typeface="Cambria Math" panose="02040503050406030204" charset="0"/>
                        <a:cs typeface="Cambria Math" panose="02040503050406030204" charset="0"/>
                      </a:rPr>
                      <m:t>𝑓</m:t>
                    </m:r>
                  </m:oMath>
                </a14:m>
                <a:r>
                  <a:rPr lang="en-US"/>
                  <a:t>), quadratic (</a:t>
                </a:r>
                <a14:m>
                  <m:oMath xmlns:m="http://schemas.openxmlformats.org/officeDocument/2006/math">
                    <m:sSup>
                      <m:sSupPr>
                        <m:ctrlPr>
                          <a:rPr lang="en-US" i="1">
                            <a:latin typeface="Cambria Math" panose="02040503050406030204" charset="0"/>
                            <a:cs typeface="Cambria Math" panose="02040503050406030204" charset="0"/>
                          </a:rPr>
                        </m:ctrlPr>
                      </m:sSupPr>
                      <m:e>
                        <m:r>
                          <a:rPr lang="en-US" i="1">
                            <a:latin typeface="Cambria Math" panose="02040503050406030204" charset="0"/>
                            <a:cs typeface="Cambria Math" panose="02040503050406030204" charset="0"/>
                          </a:rPr>
                          <m:t>𝑓</m:t>
                        </m:r>
                      </m:e>
                      <m:sup>
                        <m:r>
                          <a:rPr lang="en-US" i="1">
                            <a:latin typeface="Cambria Math" panose="02040503050406030204" charset="0"/>
                            <a:cs typeface="Cambria Math" panose="02040503050406030204" charset="0"/>
                          </a:rPr>
                          <m:t>2</m:t>
                        </m:r>
                      </m:sup>
                    </m:sSup>
                  </m:oMath>
                </a14:m>
                <a:r>
                  <a:rPr lang="en-US"/>
                  <a:t>) and interactions (</a:t>
                </a:r>
                <a14:m>
                  <m:oMath xmlns:m="http://schemas.openxmlformats.org/officeDocument/2006/math">
                    <m:sSub>
                      <m:sSubPr>
                        <m:ctrlPr>
                          <a:rPr lang="en-US" i="1">
                            <a:latin typeface="Cambria Math" panose="02040503050406030204" charset="0"/>
                            <a:cs typeface="Cambria Math" panose="02040503050406030204" charset="0"/>
                          </a:rPr>
                        </m:ctrlPr>
                      </m:sSubPr>
                      <m:e>
                        <m:r>
                          <a:rPr lang="en-US" i="1">
                            <a:latin typeface="Cambria Math" panose="02040503050406030204" charset="0"/>
                            <a:cs typeface="Cambria Math" panose="02040503050406030204" charset="0"/>
                          </a:rPr>
                          <m:t>𝑓</m:t>
                        </m:r>
                      </m:e>
                      <m:sub>
                        <m:r>
                          <a:rPr lang="en-US" i="1">
                            <a:latin typeface="Cambria Math" panose="02040503050406030204" charset="0"/>
                            <a:cs typeface="Cambria Math" panose="02040503050406030204" charset="0"/>
                          </a:rPr>
                          <m:t>1</m:t>
                        </m:r>
                      </m:sub>
                    </m:sSub>
                    <m:sSub>
                      <m:sSubPr>
                        <m:ctrlPr>
                          <a:rPr lang="en-US" i="1">
                            <a:latin typeface="Cambria Math" panose="02040503050406030204" charset="0"/>
                            <a:cs typeface="Cambria Math" panose="02040503050406030204" charset="0"/>
                          </a:rPr>
                        </m:ctrlPr>
                      </m:sSubPr>
                      <m:e>
                        <m:r>
                          <a:rPr lang="en-US" i="1">
                            <a:latin typeface="Cambria Math" panose="02040503050406030204" charset="0"/>
                            <a:cs typeface="Cambria Math" panose="02040503050406030204" charset="0"/>
                          </a:rPr>
                          <m:t>𝑓</m:t>
                        </m:r>
                      </m:e>
                      <m:sub>
                        <m:r>
                          <a:rPr lang="en-US" i="1">
                            <a:latin typeface="Cambria Math" panose="02040503050406030204" charset="0"/>
                            <a:cs typeface="Cambria Math" panose="02040503050406030204" charset="0"/>
                          </a:rPr>
                          <m:t>2</m:t>
                        </m:r>
                      </m:sub>
                    </m:sSub>
                  </m:oMath>
                </a14:m>
                <a:r>
                  <a:rPr lang="en-US"/>
                  <a:t>)</a:t>
                </a:r>
                <a:endParaRPr lang="en-US"/>
              </a:p>
            </p:txBody>
          </p:sp>
        </mc:Choice>
        <mc:Fallback>
          <p:sp>
            <p:nvSpPr>
              <p:cNvPr id="3" name="Content Placeholder 2"/>
              <p:cNvSpPr>
                <a:spLocks noRot="1" noChangeAspect="1" noMove="1" noResize="1" noEditPoints="1" noAdjustHandles="1" noChangeArrowheads="1" noChangeShapeType="1" noTextEdit="1"/>
              </p:cNvSpPr>
              <p:nvPr>
                <p:ph idx="1"/>
              </p:nvPr>
            </p:nvSpPr>
            <p:spPr>
              <a:blipFill rotWithShape="1">
                <a:blip r:embed="rId1"/>
                <a:stretch>
                  <a:fillRect b="7"/>
                </a:stretch>
              </a:blipFill>
            </p:spPr>
            <p:txBody>
              <a:bodyPr/>
              <a:lstStyle/>
              <a:p>
                <a:r>
                  <a:rPr lang="zh-CN" altLang="en-US">
                    <a:noFill/>
                  </a:rPr>
                  <a:t> </a:t>
                </a:r>
              </a:p>
            </p:txBody>
          </p:sp>
        </mc:Fallback>
      </mc:AlternateContent>
    </p:spTree>
  </p:cSld>
  <p:clrMapOvr>
    <a:masterClrMapping/>
  </p:clrMapOvr>
</p:sld>
</file>

<file path=ppt/tags/tag1.xml><?xml version="1.0" encoding="utf-8"?>
<p:tagLst xmlns:p="http://schemas.openxmlformats.org/presentationml/2006/main">
  <p:tag name="KSO_WM_DIAGRAM_VIRTUALLY_FRAME" val="{&quot;height&quot;:171.35,&quot;left&quot;:165.05,&quot;top&quot;:244.25,&quot;width&quot;:746.2}"/>
</p:tagLst>
</file>

<file path=ppt/tags/tag2.xml><?xml version="1.0" encoding="utf-8"?>
<p:tagLst xmlns:p="http://schemas.openxmlformats.org/presentationml/2006/main">
  <p:tag name="KSO_WM_DIAGRAM_VIRTUALLY_FRAME" val="{&quot;height&quot;:171.35,&quot;left&quot;:165.05,&quot;top&quot;:244.25,&quot;width&quot;:746.2}"/>
</p:tagLst>
</file>

<file path=ppt/tags/tag3.xml><?xml version="1.0" encoding="utf-8"?>
<p:tagLst xmlns:p="http://schemas.openxmlformats.org/presentationml/2006/main">
  <p:tag name="KSO_WM_DIAGRAM_VIRTUALLY_FRAME" val="{&quot;height&quot;:171.35,&quot;left&quot;:165.05,&quot;top&quot;:244.25,&quot;width&quot;:746.2}"/>
</p:tagLst>
</file>

<file path=ppt/tags/tag4.xml><?xml version="1.0" encoding="utf-8"?>
<p:tagLst xmlns:p="http://schemas.openxmlformats.org/presentationml/2006/main">
  <p:tag name="KSO_WM_DIAGRAM_VIRTUALLY_FRAME" val="{&quot;height&quot;:171.35,&quot;left&quot;:165.05,&quot;top&quot;:244.25,&quot;width&quot;:746.2}"/>
</p:tagLst>
</file>

<file path=ppt/tags/tag5.xml><?xml version="1.0" encoding="utf-8"?>
<p:tagLst xmlns:p="http://schemas.openxmlformats.org/presentationml/2006/main">
  <p:tag name="KSO_WM_DIAGRAM_VIRTUALLY_FRAME" val="{&quot;height&quot;:171.35,&quot;left&quot;:165.05,&quot;top&quot;:244.25,&quot;width&quot;:746.2}"/>
</p:tagLst>
</file>

<file path=ppt/tags/tag6.xml><?xml version="1.0" encoding="utf-8"?>
<p:tagLst xmlns:p="http://schemas.openxmlformats.org/presentationml/2006/main">
  <p:tag name="KSO_WM_DIAGRAM_VIRTUALLY_FRAME" val="{&quot;height&quot;:171.35,&quot;left&quot;:165.05,&quot;top&quot;:244.25,&quot;width&quot;:746.2}"/>
</p:tagLst>
</file>

<file path=ppt/tags/tag7.xml><?xml version="1.0" encoding="utf-8"?>
<p:tagLst xmlns:p="http://schemas.openxmlformats.org/presentationml/2006/main">
  <p:tag name="KSO_WM_DIAGRAM_VIRTUALLY_FRAME" val="{&quot;height&quot;:171.35,&quot;left&quot;:165.05,&quot;top&quot;:244.25,&quot;width&quot;:746.2}"/>
</p:tagLst>
</file>

<file path=ppt/tags/tag8.xml><?xml version="1.0" encoding="utf-8"?>
<p:tagLst xmlns:p="http://schemas.openxmlformats.org/presentationml/2006/main">
  <p:tag name="KSO_WM_DIAGRAM_VIRTUALLY_FRAME" val="{&quot;height&quot;:171.35,&quot;left&quot;:165.05,&quot;top&quot;:244.25,&quot;width&quot;:746.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7524</Words>
  <Application>WPS 演示</Application>
  <PresentationFormat>Widescreen</PresentationFormat>
  <Paragraphs>174</Paragraphs>
  <Slides>13</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13</vt:i4>
      </vt:variant>
    </vt:vector>
  </HeadingPairs>
  <TitlesOfParts>
    <vt:vector size="22" baseType="lpstr">
      <vt:lpstr>Arial</vt:lpstr>
      <vt:lpstr>宋体</vt:lpstr>
      <vt:lpstr>Wingdings</vt:lpstr>
      <vt:lpstr>Calibri</vt:lpstr>
      <vt:lpstr>Cambria Math</vt:lpstr>
      <vt:lpstr>Calibri Light</vt:lpstr>
      <vt:lpstr>微软雅黑</vt:lpstr>
      <vt:lpstr>Arial Unicode MS</vt:lpstr>
      <vt:lpstr>Office Theme</vt:lpstr>
      <vt:lpstr>CSR APP Instruction</vt:lpstr>
      <vt:lpstr>Disclaimer</vt:lpstr>
      <vt:lpstr>Terminology</vt:lpstr>
      <vt:lpstr>Terminology</vt:lpstr>
      <vt:lpstr>Introduction to CSR Equation</vt:lpstr>
      <vt:lpstr>Introduction to CSR Equation</vt:lpstr>
      <vt:lpstr>Flow chart</vt:lpstr>
      <vt:lpstr>Step 1 -- OACD table generation</vt:lpstr>
      <vt:lpstr>Step 2 -- Load data</vt:lpstr>
      <vt:lpstr>Step 3 -- Configure setting</vt:lpstr>
      <vt:lpstr>Step 3 -- Configure setting</vt:lpstr>
      <vt:lpstr>Step 4 -- Result display</vt:lpstr>
      <vt:lpstr>Step 5 -- Coefficient analysis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Xinyang Tong</dc:creator>
  <cp:lastModifiedBy>cuzno</cp:lastModifiedBy>
  <cp:revision>125</cp:revision>
  <dcterms:created xsi:type="dcterms:W3CDTF">2025-07-23T00:59:00Z</dcterms:created>
  <dcterms:modified xsi:type="dcterms:W3CDTF">2025-11-05T21:42:44Z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2052-12.1.0.23542</vt:lpwstr>
  </property>
</Properties>
</file>