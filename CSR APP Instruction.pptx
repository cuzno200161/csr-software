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18"/>
  </p:handoutMasterIdLst>
  <p:sldIdLst>
    <p:sldId id="256" r:id="rId3"/>
    <p:sldId id="262" r:id="rId4"/>
    <p:sldId id="267" r:id="rId5"/>
    <p:sldId id="268" r:id="rId6"/>
    <p:sldId id="258" r:id="rId7"/>
    <p:sldId id="269" r:id="rId9"/>
    <p:sldId id="263" r:id="rId10"/>
    <p:sldId id="271" r:id="rId11"/>
    <p:sldId id="264" r:id="rId12"/>
    <p:sldId id="257" r:id="rId13"/>
    <p:sldId id="265" r:id="rId14"/>
    <p:sldId id="270" r:id="rId15"/>
    <p:sldId id="260"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 Ho" initials="CH"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9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542D3B-516C-4540-A2E1-374EBBF9159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hyperlink" Target="https://docs.google.com/forms/d/e/1FAIpQLSfYSlA04iunATMP0NRPdg-Pfb1GVA4wDb7i2YyPbMWhBspkVg/viewform?usp=publish-editor&#1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CSR APP Instruction</a:t>
            </a:r>
            <a:endParaRPr lang="en-US" altLang="en-US" dirty="0"/>
          </a:p>
        </p:txBody>
      </p:sp>
      <p:sp>
        <p:nvSpPr>
          <p:cNvPr id="3" name="Subtitle 2"/>
          <p:cNvSpPr>
            <a:spLocks noGrp="1"/>
          </p:cNvSpPr>
          <p:nvPr>
            <p:ph type="subTitle" idx="1"/>
          </p:nvPr>
        </p:nvSpPr>
        <p:spPr/>
        <p:txBody>
          <a:bodyPr/>
          <a:lstStyle/>
          <a:p>
            <a:r>
              <a:rPr lang="en-US"/>
              <a:t>Sept 2025</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Disclaimer</a:t>
            </a:r>
            <a:endParaRPr lang="en-US"/>
          </a:p>
        </p:txBody>
      </p:sp>
      <p:sp>
        <p:nvSpPr>
          <p:cNvPr id="3" name="Content Placeholder 2"/>
          <p:cNvSpPr>
            <a:spLocks noGrp="1"/>
          </p:cNvSpPr>
          <p:nvPr>
            <p:ph idx="1"/>
          </p:nvPr>
        </p:nvSpPr>
        <p:spPr/>
        <p:txBody>
          <a:bodyPr>
            <a:normAutofit fontScale="90000"/>
          </a:bodyPr>
          <a:lstStyle/>
          <a:p>
            <a:pPr marL="0" indent="0">
              <a:buNone/>
            </a:pPr>
            <a:r>
              <a:rPr lang="en-US" altLang="zh-CN"/>
              <a:t>This software is provided free of charge for anyone to download and use. While every effort has been made to ensure its functionality and stability, the developers make no warranties or guarantees regarding the accuracy, reliability, or suitability of the results produced.</a:t>
            </a:r>
            <a:endParaRPr lang="en-US" altLang="zh-CN"/>
          </a:p>
          <a:p>
            <a:pPr marL="0" indent="0">
              <a:buNone/>
            </a:pPr>
            <a:r>
              <a:rPr lang="en-US" altLang="zh-CN"/>
              <a:t>Users are solely responsible for how they interpret, apply, or rely upon any outputs generated by the software. The developers shall not be held liable for any errors, misinterpretations, losses, or consequences arising from its use.</a:t>
            </a:r>
            <a:endParaRPr lang="en-US" altLang="zh-CN"/>
          </a:p>
          <a:p>
            <a:pPr marL="0" indent="0">
              <a:buNone/>
            </a:pPr>
            <a:r>
              <a:rPr lang="en-US" altLang="zh-CN"/>
              <a:t>Furthermore, the developers do not collect, store, or retain any user data. All computations and outputs remain entirely under the user’s control.</a:t>
            </a:r>
            <a:endParaRPr lang="en-US" altLang="zh-CN"/>
          </a:p>
          <a:p>
            <a:pPr marL="0" indent="0">
              <a:buNone/>
            </a:pPr>
            <a:r>
              <a:rPr lang="en-US" altLang="zh-CN"/>
              <a:t>By downloading or using this software, the user acknowledges and agrees to these terms.</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6375"/>
            <a:ext cx="10515600" cy="1325563"/>
          </a:xfrm>
        </p:spPr>
        <p:txBody>
          <a:bodyPr/>
          <a:lstStyle/>
          <a:p>
            <a:r>
              <a:rPr lang="en-US" altLang="zh-CN"/>
              <a:t>Terminology</a:t>
            </a:r>
            <a:endParaRPr lang="en-US" altLang="zh-CN"/>
          </a:p>
        </p:txBody>
      </p:sp>
      <p:sp>
        <p:nvSpPr>
          <p:cNvPr id="3" name="内容占位符 2"/>
          <p:cNvSpPr>
            <a:spLocks noGrp="1"/>
          </p:cNvSpPr>
          <p:nvPr>
            <p:ph idx="1"/>
          </p:nvPr>
        </p:nvSpPr>
        <p:spPr>
          <a:xfrm>
            <a:off x="888365" y="1306195"/>
            <a:ext cx="11492230" cy="4351655"/>
          </a:xfrm>
        </p:spPr>
        <p:txBody>
          <a:bodyPr>
            <a:normAutofit fontScale="25000"/>
          </a:bodyPr>
          <a:lstStyle/>
          <a:p>
            <a:pPr marL="0" indent="0">
              <a:buNone/>
            </a:pPr>
            <a:r>
              <a:rPr lang="en-US" altLang="zh-CN" sz="6400" b="1"/>
              <a:t>1. CSR Equation (Complex Systems Response Equation)</a:t>
            </a:r>
            <a:endParaRPr lang="en-US" altLang="zh-CN" sz="6400" b="1"/>
          </a:p>
          <a:p>
            <a:pPr marL="0" indent="0">
              <a:buNone/>
            </a:pPr>
            <a:r>
              <a:rPr lang="en-US" altLang="zh-CN" sz="6400"/>
              <a:t>A deterministic, second-order nonlinear equation that quantitatively maps how multiple interacting parameters lead to an emergent system property. It expresses the relationship between controllable parameters </a:t>
            </a:r>
            <a:endParaRPr lang="en-US" altLang="zh-CN" sz="6400"/>
          </a:p>
          <a:p>
            <a:pPr marL="0" indent="0">
              <a:buNone/>
            </a:pPr>
            <a:r>
              <a:rPr lang="en-US" altLang="zh-CN" sz="6400" b="1"/>
              <a:t>2. CSR Response Surface</a:t>
            </a:r>
            <a:endParaRPr lang="en-US" altLang="zh-CN" sz="6400" b="1"/>
          </a:p>
          <a:p>
            <a:pPr marL="0" indent="0">
              <a:buNone/>
            </a:pPr>
            <a:r>
              <a:rPr lang="en-US" altLang="zh-CN" sz="6400"/>
              <a:t>A multidimensional surface defined by the CSR equation that visualizes how the emergent property changes with varying parameters. It can take the form of an elliptic or hyperbolic paraboloid, typically featuring a single global optimum.</a:t>
            </a:r>
            <a:endParaRPr lang="en-US" altLang="zh-CN" sz="6400"/>
          </a:p>
          <a:p>
            <a:pPr marL="0" indent="0">
              <a:buNone/>
            </a:pPr>
            <a:r>
              <a:rPr lang="en-US" altLang="zh-CN" sz="6400" b="1"/>
              <a:t>3. Parameters, parameter levels and parameter range</a:t>
            </a:r>
            <a:endParaRPr lang="en-US" altLang="zh-CN" sz="6400" b="1"/>
          </a:p>
          <a:p>
            <a:pPr marL="0" indent="0">
              <a:buNone/>
            </a:pPr>
            <a:r>
              <a:rPr lang="en-US" altLang="zh-CN" sz="6400"/>
              <a:t>Parameters are the controllable factors in the complex system that are of interest to researchers. Parameter levels are the specific values of the parameters that researchers choose when investigating a complex system. Parameter range is defined by the minimum and maximum of the parameter levels.</a:t>
            </a:r>
            <a:endParaRPr lang="en-US" altLang="zh-CN" sz="6400"/>
          </a:p>
          <a:p>
            <a:pPr marL="0" indent="0">
              <a:buNone/>
            </a:pPr>
            <a:r>
              <a:rPr lang="en-US" altLang="zh-CN" sz="6400" b="1"/>
              <a:t>4. Coefficients (x</a:t>
            </a:r>
            <a:r>
              <a:rPr lang="en-US" altLang="en-US" sz="6400" b="1"/>
              <a:t>₀</a:t>
            </a:r>
            <a:r>
              <a:rPr lang="en-US" altLang="zh-CN" sz="6400" b="1"/>
              <a:t>, x</a:t>
            </a:r>
            <a:r>
              <a:rPr lang="en-US" altLang="en-US" sz="6400" b="1"/>
              <a:t>ᵢ</a:t>
            </a:r>
            <a:r>
              <a:rPr lang="en-US" altLang="zh-CN" sz="6400" b="1"/>
              <a:t>, x</a:t>
            </a:r>
            <a:r>
              <a:rPr lang="en-US" altLang="en-US" sz="6400" b="1"/>
              <a:t>ᵢᵢ</a:t>
            </a:r>
            <a:r>
              <a:rPr lang="en-US" altLang="zh-CN" sz="6400" b="1"/>
              <a:t>, x</a:t>
            </a:r>
            <a:r>
              <a:rPr lang="en-US" altLang="en-US" sz="6400" b="1"/>
              <a:t>ᵢⱼ</a:t>
            </a:r>
            <a:r>
              <a:rPr lang="en-US" altLang="zh-CN" sz="6400" b="1"/>
              <a:t>)</a:t>
            </a:r>
            <a:endParaRPr lang="en-US" altLang="zh-CN" sz="6400" b="1"/>
          </a:p>
          <a:p>
            <a:pPr marL="0" indent="0">
              <a:buNone/>
            </a:pPr>
            <a:r>
              <a:rPr lang="en-US" altLang="zh-CN" sz="6400"/>
              <a:t>Adaptive parameters in the CSR equation that represent system response characteristics. Unlike fixed regression coefficients, CSR coefficients depend on time and hidden variables, making them dynamic descriptors of system behavior.</a:t>
            </a:r>
            <a:endParaRPr lang="en-US" altLang="zh-CN" sz="6400"/>
          </a:p>
          <a:p>
            <a:pPr marL="0" indent="0">
              <a:buNone/>
            </a:pPr>
            <a:r>
              <a:rPr lang="en-US" altLang="zh-CN" sz="6400">
                <a:sym typeface="+mn-ea"/>
              </a:rPr>
              <a:t>x</a:t>
            </a:r>
            <a:r>
              <a:rPr lang="en-US" altLang="en-US" sz="6400">
                <a:sym typeface="+mn-ea"/>
              </a:rPr>
              <a:t>₀: </a:t>
            </a:r>
            <a:r>
              <a:rPr lang="en-US" altLang="zh-CN" sz="6400">
                <a:sym typeface="+mn-ea"/>
              </a:rPr>
              <a:t>Baseline response or intercept term, representing the system’s intrinsic state when all controllable parameters are zero</a:t>
            </a:r>
            <a:endParaRPr lang="en-US" altLang="zh-CN" sz="6400">
              <a:sym typeface="+mn-ea"/>
            </a:endParaRPr>
          </a:p>
          <a:p>
            <a:pPr marL="0" indent="0">
              <a:buNone/>
            </a:pPr>
            <a:r>
              <a:rPr lang="en-US" altLang="zh-CN" sz="6400">
                <a:sym typeface="+mn-ea"/>
              </a:rPr>
              <a:t>x</a:t>
            </a:r>
            <a:r>
              <a:rPr lang="en-US" altLang="en-US" sz="6400">
                <a:sym typeface="+mn-ea"/>
              </a:rPr>
              <a:t>ᵢ: </a:t>
            </a:r>
            <a:r>
              <a:rPr lang="en-US" altLang="zh-CN" sz="6400">
                <a:sym typeface="+mn-ea"/>
              </a:rPr>
              <a:t>First-order response coefficient showing the direct influence of parameter c</a:t>
            </a:r>
            <a:r>
              <a:rPr lang="en-US" altLang="en-US" sz="6400">
                <a:sym typeface="+mn-ea"/>
              </a:rPr>
              <a:t>ᵢ </a:t>
            </a:r>
            <a:r>
              <a:rPr lang="en-US" altLang="zh-CN" sz="6400">
                <a:sym typeface="+mn-ea"/>
              </a:rPr>
              <a:t>on the emergent property.</a:t>
            </a:r>
            <a:endParaRPr lang="en-US" altLang="zh-CN" sz="6400">
              <a:sym typeface="+mn-ea"/>
            </a:endParaRPr>
          </a:p>
          <a:p>
            <a:pPr marL="0" indent="0">
              <a:buNone/>
            </a:pPr>
            <a:r>
              <a:rPr lang="en-US" altLang="zh-CN" sz="6400">
                <a:sym typeface="+mn-ea"/>
              </a:rPr>
              <a:t>x</a:t>
            </a:r>
            <a:r>
              <a:rPr lang="en-US" altLang="en-US" sz="6400">
                <a:sym typeface="+mn-ea"/>
              </a:rPr>
              <a:t>ᵢᵢ: </a:t>
            </a:r>
            <a:r>
              <a:rPr lang="en-US" altLang="zh-CN" sz="6400">
                <a:sym typeface="+mn-ea"/>
              </a:rPr>
              <a:t>Second-order self-interaction term that captures nonlinearity of parameter c</a:t>
            </a:r>
            <a:r>
              <a:rPr lang="en-US" altLang="en-US" sz="6400">
                <a:sym typeface="+mn-ea"/>
              </a:rPr>
              <a:t>ᵢ</a:t>
            </a:r>
            <a:r>
              <a:rPr lang="en-US" altLang="zh-CN" sz="6400">
                <a:sym typeface="+mn-ea"/>
              </a:rPr>
              <a:t>’s individual effect</a:t>
            </a:r>
            <a:endParaRPr lang="en-US" altLang="zh-CN" sz="6400">
              <a:sym typeface="+mn-ea"/>
            </a:endParaRPr>
          </a:p>
          <a:p>
            <a:pPr marL="0" indent="0">
              <a:buNone/>
            </a:pPr>
            <a:r>
              <a:rPr lang="en-US" altLang="zh-CN" sz="6400">
                <a:sym typeface="+mn-ea"/>
              </a:rPr>
              <a:t>x</a:t>
            </a:r>
            <a:r>
              <a:rPr lang="en-US" altLang="en-US" sz="6400">
                <a:sym typeface="+mn-ea"/>
              </a:rPr>
              <a:t>ᵢⱼ: </a:t>
            </a:r>
            <a:r>
              <a:rPr lang="en-US" altLang="zh-CN" sz="6400">
                <a:sym typeface="+mn-ea"/>
              </a:rPr>
              <a:t>Cross-interaction coefficient quantifying the coupling effect between parameters c</a:t>
            </a:r>
            <a:r>
              <a:rPr lang="en-US" altLang="en-US" sz="6400">
                <a:sym typeface="+mn-ea"/>
              </a:rPr>
              <a:t>ᵢ</a:t>
            </a:r>
            <a:r>
              <a:rPr lang="en-US" altLang="zh-CN" sz="6400">
                <a:sym typeface="+mn-ea"/>
              </a:rPr>
              <a:t> and c</a:t>
            </a:r>
            <a:r>
              <a:rPr lang="en-US" altLang="en-US" sz="6400">
                <a:sym typeface="+mn-ea"/>
              </a:rPr>
              <a:t>ⱼ</a:t>
            </a:r>
            <a:endParaRPr lang="en-US" altLang="zh-CN" sz="6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Terminology</a:t>
            </a:r>
            <a:endParaRPr lang="zh-CN" altLang="en-US"/>
          </a:p>
        </p:txBody>
      </p:sp>
      <p:sp>
        <p:nvSpPr>
          <p:cNvPr id="3" name="内容占位符 2"/>
          <p:cNvSpPr>
            <a:spLocks noGrp="1"/>
          </p:cNvSpPr>
          <p:nvPr>
            <p:ph idx="1"/>
          </p:nvPr>
        </p:nvSpPr>
        <p:spPr>
          <a:xfrm>
            <a:off x="838200" y="1691005"/>
            <a:ext cx="10515600" cy="4351338"/>
          </a:xfrm>
        </p:spPr>
        <p:txBody>
          <a:bodyPr>
            <a:normAutofit fontScale="25000"/>
          </a:bodyPr>
          <a:lstStyle/>
          <a:p>
            <a:pPr marL="0" indent="0">
              <a:buNone/>
            </a:pPr>
            <a:r>
              <a:rPr lang="en-US" altLang="zh-CN" sz="7200" b="1">
                <a:sym typeface="+mn-ea"/>
              </a:rPr>
              <a:t>5. Orthogonal Array Composite Design (OACD)</a:t>
            </a:r>
            <a:endParaRPr lang="en-US" altLang="zh-CN" sz="7200" b="1"/>
          </a:p>
          <a:p>
            <a:pPr marL="0" indent="0">
              <a:buNone/>
            </a:pPr>
            <a:r>
              <a:rPr lang="en-US" altLang="zh-CN" sz="7200">
                <a:sym typeface="+mn-ea"/>
              </a:rPr>
              <a:t>A design-of-experiments (DOE) method that determines the minimal number of calibration tests needed to estimate CSR coefficients.</a:t>
            </a:r>
            <a:endParaRPr lang="en-US" altLang="zh-CN" sz="7200"/>
          </a:p>
          <a:p>
            <a:pPr marL="0" indent="0">
              <a:buNone/>
            </a:pPr>
            <a:r>
              <a:rPr lang="en-US" altLang="zh-CN" sz="7200">
                <a:sym typeface="+mn-ea"/>
              </a:rPr>
              <a:t>For P parameters, only (P</a:t>
            </a:r>
            <a:r>
              <a:rPr lang="en-US" altLang="en-US" sz="7200">
                <a:sym typeface="+mn-ea"/>
              </a:rPr>
              <a:t>²</a:t>
            </a:r>
            <a:r>
              <a:rPr lang="en-US" altLang="zh-CN" sz="7200">
                <a:sym typeface="+mn-ea"/>
              </a:rPr>
              <a:t> + 3P + 2)/2 tests are required instead of exploring all possible combinations.</a:t>
            </a:r>
            <a:endParaRPr lang="en-US" altLang="zh-CN" sz="7200"/>
          </a:p>
          <a:p>
            <a:pPr marL="0" indent="0">
              <a:buNone/>
            </a:pPr>
            <a:r>
              <a:rPr lang="en-US" altLang="zh-CN" sz="7200" b="1">
                <a:sym typeface="+mn-ea"/>
              </a:rPr>
              <a:t>6. Calibration (Fitting) Process</a:t>
            </a:r>
            <a:endParaRPr lang="en-US" altLang="zh-CN" sz="7200" b="1"/>
          </a:p>
          <a:p>
            <a:pPr marL="0" indent="0">
              <a:buNone/>
            </a:pPr>
            <a:r>
              <a:rPr lang="en-US" altLang="zh-CN" sz="7200">
                <a:sym typeface="+mn-ea"/>
              </a:rPr>
              <a:t>The procedure of determining CSR coefficients by fitting experimental data to CSR equation.</a:t>
            </a:r>
            <a:endParaRPr lang="en-US" altLang="zh-CN" sz="7200">
              <a:sym typeface="+mn-ea"/>
            </a:endParaRPr>
          </a:p>
          <a:p>
            <a:pPr marL="0" indent="0">
              <a:buNone/>
            </a:pPr>
            <a:r>
              <a:rPr lang="en-US" altLang="zh-CN" sz="7200" b="1">
                <a:sym typeface="+mn-ea"/>
              </a:rPr>
              <a:t>7. Multiple objective optimization (MOO)</a:t>
            </a:r>
            <a:endParaRPr lang="en-US" altLang="zh-CN" sz="7200" b="1">
              <a:sym typeface="+mn-ea"/>
            </a:endParaRPr>
          </a:p>
          <a:p>
            <a:pPr marL="0" indent="0">
              <a:buNone/>
            </a:pPr>
            <a:r>
              <a:rPr lang="en-US" altLang="zh-CN" sz="7200"/>
              <a:t>When there are more then one outcomes that need to be optimized, a more advanced fitting process, multiple objective optimization, is applied. This optimization process makes sure that each outcome to be optimized is considered and gives a balanced result where each outcome is as optimized as possible.</a:t>
            </a:r>
            <a:endParaRPr lang="en-US" altLang="zh-CN" sz="7200"/>
          </a:p>
          <a:p>
            <a:pPr marL="0" indent="0">
              <a:buNone/>
            </a:pPr>
            <a:r>
              <a:rPr lang="en-US" altLang="zh-CN" sz="7200" b="1">
                <a:sym typeface="+mn-ea"/>
              </a:rPr>
              <a:t>8. Extremum (Global Optimum)</a:t>
            </a:r>
            <a:endParaRPr lang="en-US" altLang="zh-CN" sz="7200" b="1"/>
          </a:p>
          <a:p>
            <a:pPr marL="0" indent="0">
              <a:buNone/>
            </a:pPr>
            <a:r>
              <a:rPr lang="en-US" altLang="zh-CN" sz="7200">
                <a:sym typeface="+mn-ea"/>
              </a:rPr>
              <a:t>The maximum or minimum point on the CSR surface representing the best achievable system performance under given constraints.</a:t>
            </a:r>
            <a:endParaRPr lang="en-US" altLang="zh-CN" sz="7200"/>
          </a:p>
          <a:p>
            <a:pPr marL="0" indent="0">
              <a:buNone/>
            </a:pPr>
            <a:r>
              <a:rPr lang="en-US" altLang="zh-CN" sz="7200" b="1">
                <a:sym typeface="+mn-ea"/>
              </a:rPr>
              <a:t>9. Normalization</a:t>
            </a:r>
            <a:endParaRPr lang="en-US" altLang="zh-CN" sz="7200" b="1"/>
          </a:p>
          <a:p>
            <a:pPr marL="0" indent="0">
              <a:buNone/>
            </a:pPr>
            <a:r>
              <a:rPr lang="en-US" altLang="zh-CN" sz="7200">
                <a:sym typeface="+mn-ea"/>
              </a:rPr>
              <a:t>Normalize the parameter range to [-1, 1] or [0, 1]</a:t>
            </a:r>
            <a:endParaRPr lang="en-US" altLang="zh-CN" sz="7200"/>
          </a:p>
          <a:p>
            <a:endParaRPr lang="zh-CN" altLang="en-US" sz="7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275" y="1517839"/>
            <a:ext cx="11753106" cy="3917950"/>
          </a:xfrm>
          <a:prstGeom prst="rect">
            <a:avLst/>
          </a:prstGeom>
          <a:noFill/>
        </p:spPr>
        <p:txBody>
          <a:bodyPr wrap="square" rtlCol="0">
            <a:spAutoFit/>
          </a:bodyPr>
          <a:lstStyle/>
          <a:p>
            <a:pPr algn="ctr"/>
            <a:r>
              <a:rPr lang="en-US" sz="2400" b="1" dirty="0"/>
              <a:t>CSR Equation</a:t>
            </a:r>
            <a:endParaRPr lang="en-US" sz="2400" b="1" dirty="0"/>
          </a:p>
          <a:p>
            <a:pPr algn="just">
              <a:tabLst>
                <a:tab pos="457200" algn="l"/>
              </a:tabLst>
            </a:pPr>
            <a:r>
              <a:rPr lang="en-US" sz="1600" dirty="0"/>
              <a:t>Optimization in multi-parameter space is challenging. The key roadblock is that N parameters with M levels for each parameter  form  a huge M</a:t>
            </a:r>
            <a:r>
              <a:rPr lang="en-US" sz="1600" baseline="30000" dirty="0"/>
              <a:t>N</a:t>
            </a:r>
            <a:r>
              <a:rPr lang="en-US" sz="1600" dirty="0"/>
              <a:t> search space. If trial-and-error approach is adapted,  it is a daunting task to search through the entire M</a:t>
            </a:r>
            <a:r>
              <a:rPr lang="en-US" sz="1600" baseline="30000" dirty="0"/>
              <a:t>N</a:t>
            </a:r>
            <a:r>
              <a:rPr lang="en-US" sz="1600" dirty="0"/>
              <a:t> space for the optimal parameter-level  combination. </a:t>
            </a:r>
            <a:endParaRPr lang="en-US" sz="1600" dirty="0"/>
          </a:p>
          <a:p>
            <a:pPr algn="just">
              <a:spcAft>
                <a:spcPts val="400"/>
              </a:spcAft>
              <a:tabLst>
                <a:tab pos="457200" algn="l"/>
              </a:tabLst>
            </a:pPr>
            <a:r>
              <a:rPr lang="en-US" sz="1600" dirty="0"/>
              <a:t>With an artificial neural networks analysis of a set of test data, the input-output response was found to be a smooth surface. The complex system response (CSR) surface can be represented by the CSR equation. </a:t>
            </a:r>
            <a:endParaRPr lang="en-US" sz="1600" dirty="0"/>
          </a:p>
          <a:p>
            <a:pPr algn="just">
              <a:spcAft>
                <a:spcPts val="400"/>
              </a:spcAft>
            </a:pPr>
            <a:endParaRPr lang="en-US" sz="1600" dirty="0"/>
          </a:p>
          <a:p>
            <a:pPr algn="just">
              <a:spcAft>
                <a:spcPts val="400"/>
              </a:spcAft>
            </a:pPr>
            <a:endParaRPr lang="en-US" sz="1600" dirty="0"/>
          </a:p>
          <a:p>
            <a:pPr algn="just">
              <a:spcAft>
                <a:spcPts val="400"/>
              </a:spcAft>
            </a:pPr>
            <a:r>
              <a:rPr lang="en-US" sz="1600" dirty="0"/>
              <a:t>                                                                                                                                                                                                                  ……………… Equation (1)</a:t>
            </a:r>
            <a:endParaRPr lang="en-US" sz="1600" dirty="0"/>
          </a:p>
          <a:p>
            <a:pPr algn="just">
              <a:spcAft>
                <a:spcPts val="400"/>
              </a:spcAft>
            </a:pPr>
            <a:endParaRPr lang="en-US" sz="1600" dirty="0"/>
          </a:p>
          <a:p>
            <a:pPr algn="just">
              <a:spcAft>
                <a:spcPts val="400"/>
              </a:spcAft>
              <a:tabLst>
                <a:tab pos="457200" algn="l"/>
              </a:tabLst>
            </a:pPr>
            <a:r>
              <a:rPr lang="en-US" altLang="zh-CN" sz="1600" kern="100" dirty="0">
                <a:ea typeface="宋体" panose="02010600030101010101" pitchFamily="2" charset="-122"/>
                <a:cs typeface="Calibri" panose="020F0502020204030204" charset="0"/>
              </a:rPr>
              <a:t>C</a:t>
            </a:r>
            <a:r>
              <a:rPr lang="en-US" altLang="zh-CN" sz="1600" kern="100" baseline="-25000" dirty="0">
                <a:ea typeface="宋体" panose="02010600030101010101" pitchFamily="2" charset="-122"/>
                <a:cs typeface="Calibri" panose="020F0502020204030204" charset="0"/>
              </a:rPr>
              <a:t>i</a:t>
            </a:r>
            <a:r>
              <a:rPr lang="en-US" altLang="zh-CN" sz="1600" kern="100" dirty="0">
                <a:ea typeface="宋体" panose="02010600030101010101" pitchFamily="2" charset="-122"/>
                <a:cs typeface="Calibri" panose="020F0502020204030204" charset="0"/>
              </a:rPr>
              <a:t> are the levels,  E(c</a:t>
            </a:r>
            <a:r>
              <a:rPr lang="en-US" altLang="zh-CN" sz="1600" kern="100" baseline="-25000" dirty="0">
                <a:ea typeface="宋体" panose="02010600030101010101" pitchFamily="2" charset="-122"/>
                <a:cs typeface="Calibri" panose="020F0502020204030204" charset="0"/>
              </a:rPr>
              <a:t>i</a:t>
            </a:r>
            <a:r>
              <a:rPr lang="en-US" altLang="zh-CN" sz="1600" kern="100" dirty="0">
                <a:ea typeface="宋体" panose="02010600030101010101" pitchFamily="2" charset="-122"/>
                <a:cs typeface="Calibri" panose="020F0502020204030204" charset="0"/>
              </a:rPr>
              <a:t>, u</a:t>
            </a:r>
            <a:r>
              <a:rPr lang="en-US" altLang="zh-CN" sz="1600" kern="100" baseline="-25000" dirty="0">
                <a:ea typeface="宋体" panose="02010600030101010101" pitchFamily="2" charset="-122"/>
                <a:cs typeface="Calibri" panose="020F0502020204030204" charset="0"/>
              </a:rPr>
              <a:t>x</a:t>
            </a:r>
            <a:r>
              <a:rPr lang="en-US" altLang="zh-CN" sz="1600" kern="100" dirty="0">
                <a:ea typeface="宋体" panose="02010600030101010101" pitchFamily="2" charset="-122"/>
                <a:cs typeface="Calibri" panose="020F0502020204030204" charset="0"/>
              </a:rPr>
              <a:t>, t) is the outcome.  x</a:t>
            </a:r>
            <a:r>
              <a:rPr lang="en-US" altLang="zh-CN" sz="1600" kern="100" baseline="-25000" dirty="0">
                <a:ea typeface="宋体" panose="02010600030101010101" pitchFamily="2" charset="-122"/>
                <a:cs typeface="Calibri" panose="020F0502020204030204" charset="0"/>
              </a:rPr>
              <a:t>i</a:t>
            </a:r>
            <a:r>
              <a:rPr lang="en-US" altLang="zh-CN" sz="1600" kern="100" dirty="0">
                <a:ea typeface="宋体" panose="02010600030101010101" pitchFamily="2" charset="-122"/>
                <a:cs typeface="Calibri" panose="020F0502020204030204" charset="0"/>
              </a:rPr>
              <a:t>, x</a:t>
            </a:r>
            <a:r>
              <a:rPr lang="en-US" altLang="zh-CN" sz="1600" kern="100" baseline="-25000" dirty="0">
                <a:ea typeface="宋体" panose="02010600030101010101" pitchFamily="2" charset="-122"/>
                <a:cs typeface="Calibri" panose="020F0502020204030204" charset="0"/>
              </a:rPr>
              <a:t>ii</a:t>
            </a:r>
            <a:r>
              <a:rPr lang="en-US" altLang="zh-CN" sz="1600" kern="100" dirty="0">
                <a:ea typeface="宋体" panose="02010600030101010101" pitchFamily="2" charset="-122"/>
                <a:cs typeface="Calibri" panose="020F0502020204030204" charset="0"/>
              </a:rPr>
              <a:t>, x</a:t>
            </a:r>
            <a:r>
              <a:rPr lang="en-US" altLang="zh-CN" sz="1600" kern="100" baseline="-25000" dirty="0">
                <a:ea typeface="宋体" panose="02010600030101010101" pitchFamily="2" charset="-122"/>
                <a:cs typeface="Calibri" panose="020F0502020204030204" charset="0"/>
              </a:rPr>
              <a:t>ij</a:t>
            </a:r>
            <a:r>
              <a:rPr lang="en-US" altLang="zh-CN" sz="1600" kern="100" dirty="0">
                <a:ea typeface="宋体" panose="02010600030101010101" pitchFamily="2" charset="-122"/>
                <a:cs typeface="Calibri" panose="020F0502020204030204" charset="0"/>
              </a:rPr>
              <a:t>, are coefficients to be determined by experiments. These coefficients are functions of the independent variables, i.e. time and C</a:t>
            </a:r>
            <a:r>
              <a:rPr lang="en-US" altLang="zh-CN" sz="1600" kern="100" baseline="-25000" dirty="0">
                <a:ea typeface="宋体" panose="02010600030101010101" pitchFamily="2" charset="-122"/>
                <a:cs typeface="Calibri" panose="020F0502020204030204" charset="0"/>
              </a:rPr>
              <a:t>i</a:t>
            </a:r>
            <a:r>
              <a:rPr lang="en-US" altLang="zh-CN" sz="1600" kern="100" dirty="0">
                <a:ea typeface="宋体" panose="02010600030101010101" pitchFamily="2" charset="-122"/>
                <a:cs typeface="Calibri" panose="020F0502020204030204" charset="0"/>
              </a:rPr>
              <a:t>, and hence are not constants. u</a:t>
            </a:r>
            <a:r>
              <a:rPr lang="en-US" altLang="zh-CN" sz="1600" kern="100" baseline="-25000" dirty="0">
                <a:ea typeface="宋体" panose="02010600030101010101" pitchFamily="2" charset="-122"/>
                <a:cs typeface="Calibri" panose="020F0502020204030204" charset="0"/>
              </a:rPr>
              <a:t>x</a:t>
            </a:r>
            <a:r>
              <a:rPr lang="en-US" altLang="zh-CN" sz="1600" kern="100" dirty="0">
                <a:ea typeface="宋体" panose="02010600030101010101" pitchFamily="2" charset="-122"/>
                <a:cs typeface="Calibri" panose="020F0502020204030204" charset="0"/>
              </a:rPr>
              <a:t> are the undefined or unknown parameters. By definition, Function-1 is not a mathematical equation. The number of coefficients is [1+P+P+P(P−1)/2 = [(P</a:t>
            </a:r>
            <a:r>
              <a:rPr lang="en-US" altLang="zh-CN" sz="1600" kern="100" baseline="30000" dirty="0">
                <a:ea typeface="宋体" panose="02010600030101010101" pitchFamily="2" charset="-122"/>
                <a:cs typeface="Calibri" panose="020F0502020204030204" charset="0"/>
              </a:rPr>
              <a:t>2</a:t>
            </a:r>
            <a:r>
              <a:rPr lang="en-US" altLang="zh-CN" sz="1600" kern="100" dirty="0">
                <a:ea typeface="宋体" panose="02010600030101010101" pitchFamily="2" charset="-122"/>
                <a:cs typeface="Calibri" panose="020F0502020204030204" charset="0"/>
              </a:rPr>
              <a:t>+3P+2)/2]. Hence, only  small number of calibration tests , [(P</a:t>
            </a:r>
            <a:r>
              <a:rPr lang="en-US" altLang="zh-CN" sz="1600" kern="100" baseline="30000" dirty="0">
                <a:ea typeface="宋体" panose="02010600030101010101" pitchFamily="2" charset="-122"/>
                <a:cs typeface="Calibri" panose="020F0502020204030204" charset="0"/>
              </a:rPr>
              <a:t>2</a:t>
            </a:r>
            <a:r>
              <a:rPr lang="en-US" altLang="zh-CN" sz="1600" kern="100" dirty="0">
                <a:ea typeface="宋体" panose="02010600030101010101" pitchFamily="2" charset="-122"/>
                <a:cs typeface="Calibri" panose="020F0502020204030204" charset="0"/>
              </a:rPr>
              <a:t>+3P+2)/2], can find the optimal output instead of searching in a large L</a:t>
            </a:r>
            <a:r>
              <a:rPr lang="en-US" altLang="zh-CN" sz="1600" kern="100" baseline="30000" dirty="0">
                <a:ea typeface="宋体" panose="02010600030101010101" pitchFamily="2" charset="-122"/>
                <a:cs typeface="Calibri" panose="020F0502020204030204" charset="0"/>
              </a:rPr>
              <a:t>P</a:t>
            </a:r>
            <a:r>
              <a:rPr lang="en-US" altLang="zh-CN" sz="1600" kern="100" dirty="0">
                <a:ea typeface="宋体" panose="02010600030101010101" pitchFamily="2" charset="-122"/>
                <a:cs typeface="Calibri" panose="020F0502020204030204" charset="0"/>
              </a:rPr>
              <a:t> space. </a:t>
            </a:r>
            <a:endParaRPr lang="en-US" altLang="zh-CN" sz="1600" kern="100" dirty="0">
              <a:ea typeface="宋体" panose="02010600030101010101" pitchFamily="2" charset="-122"/>
              <a:cs typeface="Calibri" panose="020F0502020204030204" charset="0"/>
            </a:endParaRPr>
          </a:p>
        </p:txBody>
      </p:sp>
      <p:sp>
        <p:nvSpPr>
          <p:cNvPr id="18" name="TextBox 17"/>
          <p:cNvSpPr txBox="1"/>
          <p:nvPr/>
        </p:nvSpPr>
        <p:spPr>
          <a:xfrm>
            <a:off x="8025918" y="2110488"/>
            <a:ext cx="184731" cy="369332"/>
          </a:xfrm>
          <a:prstGeom prst="rect">
            <a:avLst/>
          </a:prstGeom>
          <a:noFill/>
        </p:spPr>
        <p:txBody>
          <a:bodyPr wrap="none" rtlCol="0">
            <a:spAutoFit/>
          </a:bodyPr>
          <a:lstStyle/>
          <a:p>
            <a:endParaRPr lang="en-US" dirty="0"/>
          </a:p>
        </p:txBody>
      </p:sp>
      <p:sp>
        <p:nvSpPr>
          <p:cNvPr id="3" name="Title 2"/>
          <p:cNvSpPr>
            <a:spLocks noGrp="1"/>
          </p:cNvSpPr>
          <p:nvPr>
            <p:ph type="title"/>
          </p:nvPr>
        </p:nvSpPr>
        <p:spPr/>
        <p:txBody>
          <a:bodyPr/>
          <a:lstStyle/>
          <a:p>
            <a:r>
              <a:rPr lang="en-US"/>
              <a:t>Introduction to CSR Equation</a:t>
            </a:r>
            <a:endParaRPr lang="en-US"/>
          </a:p>
        </p:txBody>
      </p:sp>
      <p:pic>
        <p:nvPicPr>
          <p:cNvPr id="5" name="图片 4"/>
          <p:cNvPicPr>
            <a:picLocks noChangeAspect="1"/>
          </p:cNvPicPr>
          <p:nvPr/>
        </p:nvPicPr>
        <p:blipFill>
          <a:blip r:embed="rId1"/>
          <a:stretch>
            <a:fillRect/>
          </a:stretch>
        </p:blipFill>
        <p:spPr>
          <a:xfrm>
            <a:off x="549910" y="3300730"/>
            <a:ext cx="9133205" cy="9664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Introduction to CSR Equation</a:t>
            </a:r>
            <a:endParaRPr lang="zh-CN" altLang="en-US"/>
          </a:p>
        </p:txBody>
      </p:sp>
      <p:sp>
        <p:nvSpPr>
          <p:cNvPr id="3" name="内容占位符 2"/>
          <p:cNvSpPr>
            <a:spLocks noGrp="1"/>
          </p:cNvSpPr>
          <p:nvPr>
            <p:ph idx="1"/>
          </p:nvPr>
        </p:nvSpPr>
        <p:spPr/>
        <p:txBody>
          <a:bodyPr/>
          <a:lstStyle/>
          <a:p>
            <a:pPr marL="0" indent="0">
              <a:buNone/>
            </a:pPr>
            <a:r>
              <a:rPr lang="en-US" altLang="zh-CN" sz="2000"/>
              <a:t>The CSR equation is the transfer function between input and output. C</a:t>
            </a:r>
            <a:r>
              <a:rPr lang="en-US" altLang="zh-CN" sz="2000" baseline="-25000"/>
              <a:t>i</a:t>
            </a:r>
            <a:r>
              <a:rPr lang="en-US" altLang="zh-CN" sz="2000"/>
              <a:t> is the level of a parameter and is an independent variable.  Coefficients of the CSR equation contain the information of the system response to the parameters and the levels. The coefficients are unknowns. For P parameters, there are [(P</a:t>
            </a:r>
            <a:r>
              <a:rPr lang="en-US" altLang="zh-CN" sz="2000" baseline="30000"/>
              <a:t>2</a:t>
            </a:r>
            <a:r>
              <a:rPr lang="en-US" altLang="zh-CN" sz="2000"/>
              <a:t>+3P+2)/2] coefficients (Table 1).  	</a:t>
            </a:r>
            <a:endParaRPr lang="en-US" altLang="zh-CN" sz="2000"/>
          </a:p>
          <a:p>
            <a:pPr marL="0" indent="0">
              <a:buNone/>
            </a:pPr>
            <a:r>
              <a:rPr lang="en-US" altLang="zh-CN" sz="2000"/>
              <a:t>The (P</a:t>
            </a:r>
            <a:r>
              <a:rPr lang="en-US" altLang="zh-CN" sz="2000" baseline="30000"/>
              <a:t>2</a:t>
            </a:r>
            <a:r>
              <a:rPr lang="en-US" altLang="zh-CN" sz="2000"/>
              <a:t>+3P+2)/2 tests can save order of magnitude orders of efforts, time and cost than searching through the entire N</a:t>
            </a:r>
            <a:r>
              <a:rPr lang="en-US" altLang="zh-CN" sz="2000" baseline="30000"/>
              <a:t>M</a:t>
            </a:r>
            <a:r>
              <a:rPr lang="en-US" altLang="zh-CN" sz="2000"/>
              <a:t> space.  </a:t>
            </a:r>
            <a:endParaRPr lang="en-US" altLang="zh-CN" sz="2000"/>
          </a:p>
        </p:txBody>
      </p:sp>
      <p:graphicFrame>
        <p:nvGraphicFramePr>
          <p:cNvPr id="4" name="Table 1"/>
          <p:cNvGraphicFramePr>
            <a:graphicFrameLocks noGrp="1"/>
          </p:cNvGraphicFramePr>
          <p:nvPr/>
        </p:nvGraphicFramePr>
        <p:xfrm>
          <a:off x="3221829" y="4614516"/>
          <a:ext cx="5411052" cy="2011680"/>
        </p:xfrm>
        <a:graphic>
          <a:graphicData uri="http://schemas.openxmlformats.org/drawingml/2006/table">
            <a:tbl>
              <a:tblPr firstRow="1" bandRow="1">
                <a:tableStyleId>{5940675A-B579-460E-94D1-54222C63F5DA}</a:tableStyleId>
              </a:tblPr>
              <a:tblGrid>
                <a:gridCol w="1803684"/>
                <a:gridCol w="1803684"/>
                <a:gridCol w="1803684"/>
              </a:tblGrid>
              <a:tr h="123829">
                <a:tc>
                  <a:txBody>
                    <a:bodyPr/>
                    <a:lstStyle/>
                    <a:p>
                      <a:pPr algn="ctr"/>
                      <a:r>
                        <a:rPr lang="en-US" sz="1050" dirty="0"/>
                        <a:t>No. of Parameters</a:t>
                      </a:r>
                      <a:endParaRPr lang="en-US" sz="1050" dirty="0"/>
                    </a:p>
                  </a:txBody>
                  <a:tcPr/>
                </a:tc>
                <a:tc>
                  <a:txBody>
                    <a:bodyPr/>
                    <a:lstStyle/>
                    <a:p>
                      <a:pPr algn="ctr"/>
                      <a:r>
                        <a:rPr lang="en-US" sz="1050" kern="100" dirty="0">
                          <a:ea typeface="宋体" panose="02010600030101010101" pitchFamily="2" charset="-122"/>
                          <a:cs typeface="Calibri" panose="020F0502020204030204" charset="0"/>
                        </a:rPr>
                        <a:t>(N</a:t>
                      </a:r>
                      <a:r>
                        <a:rPr lang="en-US" sz="1050" kern="100" baseline="30000" dirty="0">
                          <a:ea typeface="宋体" panose="02010600030101010101" pitchFamily="2" charset="-122"/>
                          <a:cs typeface="Calibri" panose="020F0502020204030204" charset="0"/>
                        </a:rPr>
                        <a:t>2</a:t>
                      </a:r>
                      <a:r>
                        <a:rPr lang="en-US" sz="1050" kern="100" dirty="0">
                          <a:ea typeface="宋体" panose="02010600030101010101" pitchFamily="2" charset="-122"/>
                          <a:cs typeface="Calibri" panose="020F0502020204030204" charset="0"/>
                        </a:rPr>
                        <a:t>+3N+2)/2</a:t>
                      </a:r>
                      <a:endParaRPr lang="en-US" sz="1050" dirty="0"/>
                    </a:p>
                  </a:txBody>
                  <a:tcPr/>
                </a:tc>
                <a:tc>
                  <a:txBody>
                    <a:bodyPr/>
                    <a:lstStyle/>
                    <a:p>
                      <a:pPr algn="ctr"/>
                      <a:r>
                        <a:rPr lang="en-US" sz="1050" dirty="0"/>
                        <a:t>M</a:t>
                      </a:r>
                      <a:r>
                        <a:rPr lang="en-US" sz="1050" baseline="30000" dirty="0"/>
                        <a:t>N</a:t>
                      </a:r>
                      <a:r>
                        <a:rPr lang="en-US" sz="1050" dirty="0"/>
                        <a:t> (M=10)</a:t>
                      </a:r>
                      <a:endParaRPr lang="en-US" sz="1050" dirty="0"/>
                    </a:p>
                  </a:txBody>
                  <a:tcPr/>
                </a:tc>
              </a:tr>
              <a:tr h="123829">
                <a:tc>
                  <a:txBody>
                    <a:bodyPr/>
                    <a:lstStyle/>
                    <a:p>
                      <a:pPr algn="ctr"/>
                      <a:r>
                        <a:rPr lang="en-US" sz="1050" dirty="0"/>
                        <a:t>1</a:t>
                      </a:r>
                      <a:endParaRPr lang="en-US" sz="1050" dirty="0"/>
                    </a:p>
                  </a:txBody>
                  <a:tcPr/>
                </a:tc>
                <a:tc>
                  <a:txBody>
                    <a:bodyPr/>
                    <a:lstStyle/>
                    <a:p>
                      <a:pPr algn="ctr"/>
                      <a:r>
                        <a:rPr lang="en-US" sz="1050" dirty="0"/>
                        <a:t>3</a:t>
                      </a:r>
                      <a:endParaRPr lang="en-US" sz="1050" dirty="0"/>
                    </a:p>
                  </a:txBody>
                  <a:tcPr/>
                </a:tc>
                <a:tc>
                  <a:txBody>
                    <a:bodyPr/>
                    <a:lstStyle/>
                    <a:p>
                      <a:pPr algn="ctr"/>
                      <a:r>
                        <a:rPr lang="en-US" sz="1050" dirty="0"/>
                        <a:t>10</a:t>
                      </a:r>
                      <a:endParaRPr lang="en-US" sz="1050" dirty="0"/>
                    </a:p>
                  </a:txBody>
                  <a:tcPr/>
                </a:tc>
              </a:tr>
              <a:tr h="123829">
                <a:tc>
                  <a:txBody>
                    <a:bodyPr/>
                    <a:lstStyle/>
                    <a:p>
                      <a:pPr algn="ctr"/>
                      <a:r>
                        <a:rPr lang="en-US" sz="1050" dirty="0"/>
                        <a:t>2</a:t>
                      </a:r>
                      <a:endParaRPr lang="en-US" sz="1050" dirty="0"/>
                    </a:p>
                  </a:txBody>
                  <a:tcPr/>
                </a:tc>
                <a:tc>
                  <a:txBody>
                    <a:bodyPr/>
                    <a:lstStyle/>
                    <a:p>
                      <a:pPr algn="ctr"/>
                      <a:r>
                        <a:rPr lang="en-US" sz="1050" dirty="0"/>
                        <a:t>6</a:t>
                      </a:r>
                      <a:endParaRPr lang="en-US" sz="1050" dirty="0"/>
                    </a:p>
                  </a:txBody>
                  <a:tcPr/>
                </a:tc>
                <a:tc>
                  <a:txBody>
                    <a:bodyPr/>
                    <a:lstStyle/>
                    <a:p>
                      <a:pPr algn="ctr"/>
                      <a:r>
                        <a:rPr lang="en-US" sz="1050" dirty="0"/>
                        <a:t>10</a:t>
                      </a:r>
                      <a:r>
                        <a:rPr lang="en-US" sz="1050" baseline="30000" dirty="0"/>
                        <a:t>2</a:t>
                      </a:r>
                      <a:endParaRPr lang="en-US" sz="1050" baseline="30000" dirty="0"/>
                    </a:p>
                  </a:txBody>
                  <a:tcPr/>
                </a:tc>
              </a:tr>
              <a:tr h="123829">
                <a:tc>
                  <a:txBody>
                    <a:bodyPr/>
                    <a:lstStyle/>
                    <a:p>
                      <a:pPr algn="ctr"/>
                      <a:r>
                        <a:rPr lang="en-US" sz="1050" dirty="0"/>
                        <a:t>3</a:t>
                      </a:r>
                      <a:endParaRPr lang="en-US" sz="1050" dirty="0"/>
                    </a:p>
                  </a:txBody>
                  <a:tcPr/>
                </a:tc>
                <a:tc>
                  <a:txBody>
                    <a:bodyPr/>
                    <a:lstStyle/>
                    <a:p>
                      <a:pPr algn="ctr"/>
                      <a:r>
                        <a:rPr lang="en-US" sz="1050" dirty="0"/>
                        <a:t>10</a:t>
                      </a:r>
                      <a:endParaRPr lang="en-US" sz="1050" dirty="0"/>
                    </a:p>
                  </a:txBody>
                  <a:tcPr/>
                </a:tc>
                <a:tc>
                  <a:txBody>
                    <a:bodyPr/>
                    <a:lstStyle/>
                    <a:p>
                      <a:pPr algn="ctr"/>
                      <a:r>
                        <a:rPr lang="en-US" sz="1050" dirty="0"/>
                        <a:t>10</a:t>
                      </a:r>
                      <a:r>
                        <a:rPr lang="en-US" sz="1050" baseline="30000" dirty="0"/>
                        <a:t>3</a:t>
                      </a:r>
                      <a:endParaRPr lang="en-US" sz="1050" baseline="30000" dirty="0"/>
                    </a:p>
                  </a:txBody>
                  <a:tcPr/>
                </a:tc>
              </a:tr>
              <a:tr h="123829">
                <a:tc>
                  <a:txBody>
                    <a:bodyPr/>
                    <a:lstStyle/>
                    <a:p>
                      <a:pPr algn="ctr"/>
                      <a:r>
                        <a:rPr lang="en-US" sz="1050" dirty="0"/>
                        <a:t>4</a:t>
                      </a:r>
                      <a:endParaRPr lang="en-US" sz="1050" dirty="0"/>
                    </a:p>
                  </a:txBody>
                  <a:tcPr/>
                </a:tc>
                <a:tc>
                  <a:txBody>
                    <a:bodyPr/>
                    <a:lstStyle/>
                    <a:p>
                      <a:pPr algn="ctr"/>
                      <a:r>
                        <a:rPr lang="en-US" sz="1050" dirty="0"/>
                        <a:t>15</a:t>
                      </a:r>
                      <a:endParaRPr lang="en-US" sz="1050" dirty="0"/>
                    </a:p>
                  </a:txBody>
                  <a:tcPr/>
                </a:tc>
                <a:tc>
                  <a:txBody>
                    <a:bodyPr/>
                    <a:lstStyle/>
                    <a:p>
                      <a:pPr algn="ctr"/>
                      <a:r>
                        <a:rPr lang="en-US" sz="1050" dirty="0"/>
                        <a:t>10</a:t>
                      </a:r>
                      <a:r>
                        <a:rPr lang="en-US" sz="1050" baseline="30000" dirty="0"/>
                        <a:t>4</a:t>
                      </a:r>
                      <a:endParaRPr lang="en-US" sz="1050" baseline="30000" dirty="0"/>
                    </a:p>
                  </a:txBody>
                  <a:tcPr/>
                </a:tc>
              </a:tr>
              <a:tr h="123829">
                <a:tc>
                  <a:txBody>
                    <a:bodyPr/>
                    <a:lstStyle/>
                    <a:p>
                      <a:pPr algn="ctr"/>
                      <a:r>
                        <a:rPr lang="en-US" sz="1050" dirty="0"/>
                        <a:t>5</a:t>
                      </a:r>
                      <a:endParaRPr lang="en-US" sz="1050" dirty="0"/>
                    </a:p>
                  </a:txBody>
                  <a:tcPr/>
                </a:tc>
                <a:tc>
                  <a:txBody>
                    <a:bodyPr/>
                    <a:lstStyle/>
                    <a:p>
                      <a:pPr algn="ctr"/>
                      <a:r>
                        <a:rPr lang="en-US" sz="1050" dirty="0"/>
                        <a:t>21</a:t>
                      </a:r>
                      <a:endParaRPr lang="en-US" sz="1050" dirty="0"/>
                    </a:p>
                  </a:txBody>
                  <a:tcPr/>
                </a:tc>
                <a:tc>
                  <a:txBody>
                    <a:bodyPr/>
                    <a:lstStyle/>
                    <a:p>
                      <a:pPr algn="ctr"/>
                      <a:r>
                        <a:rPr lang="en-US" sz="1050" dirty="0"/>
                        <a:t>10</a:t>
                      </a:r>
                      <a:r>
                        <a:rPr lang="en-US" sz="1050" baseline="30000" dirty="0"/>
                        <a:t>5</a:t>
                      </a:r>
                      <a:endParaRPr lang="en-US" sz="1050" baseline="30000" dirty="0"/>
                    </a:p>
                  </a:txBody>
                  <a:tcPr/>
                </a:tc>
              </a:tr>
              <a:tr h="123829">
                <a:tc>
                  <a:txBody>
                    <a:bodyPr/>
                    <a:lstStyle/>
                    <a:p>
                      <a:pPr algn="ctr"/>
                      <a:r>
                        <a:rPr lang="en-US" sz="1050" dirty="0"/>
                        <a:t>6</a:t>
                      </a:r>
                      <a:endParaRPr lang="en-US" sz="1050" dirty="0"/>
                    </a:p>
                  </a:txBody>
                  <a:tcPr/>
                </a:tc>
                <a:tc>
                  <a:txBody>
                    <a:bodyPr/>
                    <a:lstStyle/>
                    <a:p>
                      <a:pPr algn="ctr"/>
                      <a:r>
                        <a:rPr lang="en-US" sz="1050" dirty="0"/>
                        <a:t>28</a:t>
                      </a:r>
                      <a:endParaRPr lang="en-US" sz="1050" dirty="0"/>
                    </a:p>
                  </a:txBody>
                  <a:tcPr/>
                </a:tc>
                <a:tc>
                  <a:txBody>
                    <a:bodyPr/>
                    <a:lstStyle/>
                    <a:p>
                      <a:pPr algn="ctr"/>
                      <a:r>
                        <a:rPr lang="en-US" sz="1050" dirty="0"/>
                        <a:t>10</a:t>
                      </a:r>
                      <a:r>
                        <a:rPr lang="en-US" sz="1050" baseline="30000" dirty="0"/>
                        <a:t>6</a:t>
                      </a:r>
                      <a:endParaRPr lang="en-US" sz="1050" baseline="30000" dirty="0"/>
                    </a:p>
                  </a:txBody>
                  <a:tcPr/>
                </a:tc>
              </a:tr>
              <a:tr h="123829">
                <a:tc>
                  <a:txBody>
                    <a:bodyPr/>
                    <a:lstStyle/>
                    <a:p>
                      <a:pPr algn="ctr"/>
                      <a:r>
                        <a:rPr lang="en-US" sz="1050" dirty="0"/>
                        <a:t>12</a:t>
                      </a:r>
                      <a:endParaRPr lang="en-US" sz="1050" dirty="0"/>
                    </a:p>
                  </a:txBody>
                  <a:tcPr/>
                </a:tc>
                <a:tc>
                  <a:txBody>
                    <a:bodyPr/>
                    <a:lstStyle/>
                    <a:p>
                      <a:pPr algn="ctr"/>
                      <a:r>
                        <a:rPr lang="en-US" sz="1050" dirty="0"/>
                        <a:t>91</a:t>
                      </a:r>
                      <a:endParaRPr lang="en-US" sz="1050" dirty="0"/>
                    </a:p>
                  </a:txBody>
                  <a:tcPr/>
                </a:tc>
                <a:tc>
                  <a:txBody>
                    <a:bodyPr/>
                    <a:lstStyle/>
                    <a:p>
                      <a:pPr algn="ctr"/>
                      <a:r>
                        <a:rPr lang="en-US" sz="1050" dirty="0"/>
                        <a:t>10</a:t>
                      </a:r>
                      <a:r>
                        <a:rPr lang="en-US" sz="1050" baseline="30000" dirty="0"/>
                        <a:t>12</a:t>
                      </a:r>
                      <a:endParaRPr lang="en-US" sz="1050" baseline="30000" dirty="0"/>
                    </a:p>
                  </a:txBody>
                  <a:tcPr/>
                </a:tc>
              </a:tr>
            </a:tbl>
          </a:graphicData>
        </a:graphic>
      </p:graphicFrame>
      <p:sp>
        <p:nvSpPr>
          <p:cNvPr id="6" name="TextBox 5"/>
          <p:cNvSpPr txBox="1"/>
          <p:nvPr/>
        </p:nvSpPr>
        <p:spPr>
          <a:xfrm>
            <a:off x="4273028" y="4117688"/>
            <a:ext cx="3308466" cy="369332"/>
          </a:xfrm>
          <a:prstGeom prst="rect">
            <a:avLst/>
          </a:prstGeom>
          <a:noFill/>
        </p:spPr>
        <p:txBody>
          <a:bodyPr wrap="square" rtlCol="0">
            <a:spAutoFit/>
          </a:bodyPr>
          <a:lstStyle/>
          <a:p>
            <a:r>
              <a:rPr lang="en-US" dirty="0"/>
              <a:t>Table 1:   The number of tests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Flow chart</a:t>
            </a:r>
            <a:endParaRPr lang="en-US"/>
          </a:p>
        </p:txBody>
      </p:sp>
      <p:sp>
        <p:nvSpPr>
          <p:cNvPr id="4" name="Rectangles 3"/>
          <p:cNvSpPr/>
          <p:nvPr/>
        </p:nvSpPr>
        <p:spPr>
          <a:xfrm>
            <a:off x="344170" y="3101975"/>
            <a:ext cx="1751965" cy="6540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t>Load data</a:t>
            </a:r>
            <a:endParaRPr lang="en-US" b="1"/>
          </a:p>
        </p:txBody>
      </p:sp>
      <p:sp>
        <p:nvSpPr>
          <p:cNvPr id="5" name="Rectangles 4"/>
          <p:cNvSpPr/>
          <p:nvPr>
            <p:custDataLst>
              <p:tags r:id="rId1"/>
            </p:custDataLst>
          </p:nvPr>
        </p:nvSpPr>
        <p:spPr>
          <a:xfrm>
            <a:off x="2713355" y="3101975"/>
            <a:ext cx="1751965" cy="6540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sym typeface="+mn-ea"/>
              </a:rPr>
              <a:t>Configure settings</a:t>
            </a:r>
            <a:endParaRPr lang="en-US" b="1"/>
          </a:p>
        </p:txBody>
      </p:sp>
      <p:sp>
        <p:nvSpPr>
          <p:cNvPr id="6" name="Rectangles 5"/>
          <p:cNvSpPr/>
          <p:nvPr>
            <p:custDataLst>
              <p:tags r:id="rId2"/>
            </p:custDataLst>
          </p:nvPr>
        </p:nvSpPr>
        <p:spPr>
          <a:xfrm>
            <a:off x="7451725" y="3101975"/>
            <a:ext cx="1751965" cy="6540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a:t>Output</a:t>
            </a:r>
            <a:endParaRPr lang="en-US" altLang="en-US" b="1"/>
          </a:p>
        </p:txBody>
      </p:sp>
      <p:cxnSp>
        <p:nvCxnSpPr>
          <p:cNvPr id="8" name="Straight Arrow Connector 7"/>
          <p:cNvCxnSpPr>
            <a:stCxn id="4" idx="3"/>
            <a:endCxn id="5" idx="1"/>
          </p:cNvCxnSpPr>
          <p:nvPr>
            <p:custDataLst>
              <p:tags r:id="rId3"/>
            </p:custDataLst>
          </p:nvPr>
        </p:nvCxnSpPr>
        <p:spPr>
          <a:xfrm>
            <a:off x="2096135" y="3429000"/>
            <a:ext cx="61722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custDataLst>
              <p:tags r:id="rId4"/>
            </p:custDataLst>
          </p:nvPr>
        </p:nvSpPr>
        <p:spPr>
          <a:xfrm>
            <a:off x="2309495" y="3956050"/>
            <a:ext cx="3475990" cy="829945"/>
          </a:xfrm>
          <a:prstGeom prst="rect">
            <a:avLst/>
          </a:prstGeom>
          <a:noFill/>
        </p:spPr>
        <p:txBody>
          <a:bodyPr wrap="square" rtlCol="0" anchor="t">
            <a:spAutoFit/>
          </a:bodyPr>
          <a:lstStyle/>
          <a:p>
            <a:pPr marL="285750" indent="-285750">
              <a:buFont typeface="Arial" panose="020B0604020202020204" pitchFamily="34" charset="0"/>
              <a:buChar char="•"/>
            </a:pPr>
            <a:r>
              <a:rPr lang="en-US" sz="1600" b="1">
                <a:sym typeface="+mn-ea"/>
              </a:rPr>
              <a:t>Extremum Objective</a:t>
            </a:r>
            <a:endParaRPr lang="en-US" sz="1600" b="1">
              <a:sym typeface="+mn-ea"/>
            </a:endParaRPr>
          </a:p>
          <a:p>
            <a:pPr marL="285750" indent="-285750">
              <a:buFont typeface="Arial" panose="020B0604020202020204" pitchFamily="34" charset="0"/>
              <a:buChar char="•"/>
            </a:pPr>
            <a:r>
              <a:rPr lang="en-US" sz="1600" b="1">
                <a:sym typeface="+mn-ea"/>
              </a:rPr>
              <a:t>Normalization</a:t>
            </a:r>
            <a:endParaRPr lang="en-US" sz="1600" b="1">
              <a:sym typeface="+mn-ea"/>
            </a:endParaRPr>
          </a:p>
          <a:p>
            <a:pPr marL="285750" indent="-285750">
              <a:buFont typeface="Arial" panose="020B0604020202020204" pitchFamily="34" charset="0"/>
              <a:buChar char="•"/>
            </a:pPr>
            <a:r>
              <a:rPr lang="en-US" sz="1600" b="1">
                <a:sym typeface="+mn-ea"/>
              </a:rPr>
              <a:t>Determine parameter or outcome </a:t>
            </a:r>
            <a:endParaRPr lang="en-US" sz="1600" b="1">
              <a:sym typeface="+mn-ea"/>
            </a:endParaRPr>
          </a:p>
        </p:txBody>
      </p:sp>
      <p:sp>
        <p:nvSpPr>
          <p:cNvPr id="12" name="Rectangles 11"/>
          <p:cNvSpPr/>
          <p:nvPr>
            <p:custDataLst>
              <p:tags r:id="rId5"/>
            </p:custDataLst>
          </p:nvPr>
        </p:nvSpPr>
        <p:spPr>
          <a:xfrm>
            <a:off x="5082540" y="3101975"/>
            <a:ext cx="1751965" cy="6540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1400" b="1">
                <a:sym typeface="+mn-ea"/>
              </a:rPr>
              <a:t>Data processing</a:t>
            </a:r>
            <a:endParaRPr lang="en-US" sz="1400" b="1">
              <a:sym typeface="+mn-ea"/>
            </a:endParaRPr>
          </a:p>
          <a:p>
            <a:pPr algn="ctr"/>
            <a:r>
              <a:rPr lang="en-US" sz="1400" b="1"/>
              <a:t>based on CSR equation</a:t>
            </a:r>
            <a:endParaRPr lang="en-US" sz="1400" b="1"/>
          </a:p>
        </p:txBody>
      </p:sp>
      <p:cxnSp>
        <p:nvCxnSpPr>
          <p:cNvPr id="13" name="Straight Arrow Connector 12"/>
          <p:cNvCxnSpPr>
            <a:endCxn id="12" idx="1"/>
          </p:cNvCxnSpPr>
          <p:nvPr>
            <p:custDataLst>
              <p:tags r:id="rId6"/>
            </p:custDataLst>
          </p:nvPr>
        </p:nvCxnSpPr>
        <p:spPr>
          <a:xfrm>
            <a:off x="4465320" y="3429000"/>
            <a:ext cx="61722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Straight Arrow Connector 13"/>
          <p:cNvCxnSpPr/>
          <p:nvPr>
            <p:custDataLst>
              <p:tags r:id="rId7"/>
            </p:custDataLst>
          </p:nvPr>
        </p:nvCxnSpPr>
        <p:spPr>
          <a:xfrm>
            <a:off x="6834505" y="3429000"/>
            <a:ext cx="61722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Text Box 14"/>
          <p:cNvSpPr txBox="1"/>
          <p:nvPr>
            <p:custDataLst>
              <p:tags r:id="rId8"/>
            </p:custDataLst>
          </p:nvPr>
        </p:nvSpPr>
        <p:spPr>
          <a:xfrm>
            <a:off x="6785610" y="3956050"/>
            <a:ext cx="3902075" cy="2061210"/>
          </a:xfrm>
          <a:prstGeom prst="rect">
            <a:avLst/>
          </a:prstGeom>
          <a:noFill/>
        </p:spPr>
        <p:txBody>
          <a:bodyPr wrap="square" rtlCol="0" anchor="t">
            <a:spAutoFit/>
          </a:bodyPr>
          <a:lstStyle/>
          <a:p>
            <a:pPr marL="285750" indent="-285750">
              <a:buFont typeface="Arial" panose="020B0604020202020204" pitchFamily="34" charset="0"/>
              <a:buChar char="•"/>
            </a:pPr>
            <a:r>
              <a:rPr lang="en-US" altLang="en-US" sz="1600" b="1">
                <a:sym typeface="+mn-ea"/>
              </a:rPr>
              <a:t>CSR Equation</a:t>
            </a:r>
            <a:endParaRPr lang="en-US" sz="1600" b="1">
              <a:sym typeface="+mn-ea"/>
            </a:endParaRPr>
          </a:p>
          <a:p>
            <a:pPr marL="285750" indent="-285750">
              <a:buFont typeface="Arial" panose="020B0604020202020204" pitchFamily="34" charset="0"/>
              <a:buChar char="•"/>
            </a:pPr>
            <a:r>
              <a:rPr lang="en-US" altLang="en-US" sz="1600" b="1">
                <a:sym typeface="+mn-ea"/>
              </a:rPr>
              <a:t>CSR Response Surface Plot</a:t>
            </a:r>
            <a:endParaRPr lang="en-US" altLang="en-US" sz="1600" b="1">
              <a:sym typeface="+mn-ea"/>
            </a:endParaRPr>
          </a:p>
          <a:p>
            <a:pPr marL="285750" indent="-285750">
              <a:buFont typeface="Arial" panose="020B0604020202020204" pitchFamily="34" charset="0"/>
              <a:buChar char="•"/>
            </a:pPr>
            <a:r>
              <a:rPr lang="en-US" altLang="en-US" sz="1600" b="1">
                <a:sym typeface="+mn-ea"/>
              </a:rPr>
              <a:t>Extremum</a:t>
            </a:r>
            <a:endParaRPr lang="en-US" altLang="en-US" sz="1600" b="1">
              <a:sym typeface="+mn-ea"/>
            </a:endParaRPr>
          </a:p>
          <a:p>
            <a:pPr marL="285750" indent="-285750">
              <a:buFont typeface="Arial" panose="020B0604020202020204" pitchFamily="34" charset="0"/>
              <a:buChar char="•"/>
            </a:pPr>
            <a:r>
              <a:rPr lang="en-US" altLang="en-US" sz="1600" b="1">
                <a:sym typeface="+mn-ea"/>
              </a:rPr>
              <a:t>Actual vs. Predicted Values</a:t>
            </a:r>
            <a:endParaRPr lang="en-US" altLang="en-US" sz="1600" b="1">
              <a:sym typeface="+mn-ea"/>
            </a:endParaRPr>
          </a:p>
          <a:p>
            <a:pPr marL="285750" indent="-285750">
              <a:buFont typeface="Arial" panose="020B0604020202020204" pitchFamily="34" charset="0"/>
              <a:buChar char="•"/>
            </a:pPr>
            <a:r>
              <a:rPr lang="en-US" sz="1600" b="1">
                <a:sym typeface="+mn-ea"/>
              </a:rPr>
              <a:t>R-square, mean squared error</a:t>
            </a:r>
            <a:endParaRPr lang="en-US" sz="1600" b="1">
              <a:sym typeface="+mn-ea"/>
            </a:endParaRPr>
          </a:p>
          <a:p>
            <a:pPr marL="285750" indent="-285750">
              <a:buFont typeface="Arial" panose="020B0604020202020204" pitchFamily="34" charset="0"/>
              <a:buChar char="•"/>
            </a:pPr>
            <a:r>
              <a:rPr lang="en-US" altLang="en-US" sz="1600" b="1">
                <a:sym typeface="+mn-ea"/>
              </a:rPr>
              <a:t>Pie chart analysis of </a:t>
            </a:r>
            <a:r>
              <a:rPr lang="en-US" sz="1600">
                <a:sym typeface="+mn-ea"/>
              </a:rPr>
              <a:t>distribution of the CSR equation coefficients </a:t>
            </a:r>
            <a:r>
              <a:rPr lang="en-US" altLang="zh-CN" sz="1600">
                <a:sym typeface="+mn-ea"/>
              </a:rPr>
              <a:t>x</a:t>
            </a:r>
            <a:r>
              <a:rPr lang="en-US" altLang="en-US" sz="1600">
                <a:sym typeface="+mn-ea"/>
              </a:rPr>
              <a:t>₀</a:t>
            </a:r>
            <a:r>
              <a:rPr lang="en-US" altLang="zh-CN" sz="1600">
                <a:sym typeface="+mn-ea"/>
              </a:rPr>
              <a:t>, x</a:t>
            </a:r>
            <a:r>
              <a:rPr lang="en-US" altLang="en-US" sz="1600">
                <a:sym typeface="+mn-ea"/>
              </a:rPr>
              <a:t>ᵢ</a:t>
            </a:r>
            <a:r>
              <a:rPr lang="en-US" altLang="zh-CN" sz="1600">
                <a:sym typeface="+mn-ea"/>
              </a:rPr>
              <a:t>, x</a:t>
            </a:r>
            <a:r>
              <a:rPr lang="en-US" altLang="en-US" sz="1600">
                <a:sym typeface="+mn-ea"/>
              </a:rPr>
              <a:t>ᵢᵢ and </a:t>
            </a:r>
            <a:r>
              <a:rPr lang="en-US" altLang="zh-CN" sz="1600">
                <a:sym typeface="+mn-ea"/>
              </a:rPr>
              <a:t>x</a:t>
            </a:r>
            <a:r>
              <a:rPr lang="en-US" altLang="en-US" sz="1600">
                <a:sym typeface="+mn-ea"/>
              </a:rPr>
              <a:t>ᵢⱼ</a:t>
            </a:r>
            <a:endParaRPr lang="en-US" sz="1600"/>
          </a:p>
          <a:p>
            <a:pPr marL="285750" indent="-285750">
              <a:buFont typeface="Arial" panose="020B0604020202020204" pitchFamily="34" charset="0"/>
              <a:buChar char="•"/>
            </a:pPr>
            <a:endParaRPr lang="en-US" sz="1600" b="1">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Downloading the CSR app</a:t>
            </a:r>
            <a:endParaRPr lang="en-US" altLang="zh-CN"/>
          </a:p>
        </p:txBody>
      </p:sp>
      <p:sp>
        <p:nvSpPr>
          <p:cNvPr id="3" name="内容占位符 2"/>
          <p:cNvSpPr>
            <a:spLocks noGrp="1"/>
          </p:cNvSpPr>
          <p:nvPr>
            <p:ph idx="1"/>
          </p:nvPr>
        </p:nvSpPr>
        <p:spPr/>
        <p:txBody>
          <a:bodyPr/>
          <a:p>
            <a:r>
              <a:rPr lang="en-US" altLang="zh-CN"/>
              <a:t>Please fill out the </a:t>
            </a:r>
            <a:r>
              <a:rPr lang="en-US" altLang="zh-CN">
                <a:hlinkClick r:id="rId1" tooltip="" action="ppaction://hlinkfile"/>
              </a:rPr>
              <a:t>google form</a:t>
            </a:r>
            <a:endParaRPr lang="en-US" altLang="zh-CN">
              <a:hlinkClick r:id="rId1" tooltip="" action="ppaction://hlinkfile"/>
            </a:endParaRPr>
          </a:p>
          <a:p>
            <a:endParaRPr lang="en-US" altLang="zh-CN"/>
          </a:p>
          <a:p>
            <a:endParaRPr lang="en-US" altLang="zh-CN"/>
          </a:p>
          <a:p>
            <a:r>
              <a:rPr lang="en-US" altLang="zh-CN"/>
              <a:t>Then, we’ll send you a copy of CSR.exe along with this slide containing detailed instructions for the software</a:t>
            </a:r>
            <a:endParaRPr lang="en-US" altLang="zh-CN"/>
          </a:p>
        </p:txBody>
      </p:sp>
      <p:pic>
        <p:nvPicPr>
          <p:cNvPr id="4" name="图片 3" descr="bJtUQx"/>
          <p:cNvPicPr>
            <a:picLocks noChangeAspect="1"/>
          </p:cNvPicPr>
          <p:nvPr/>
        </p:nvPicPr>
        <p:blipFill>
          <a:blip r:embed="rId2"/>
          <a:stretch>
            <a:fillRect/>
          </a:stretch>
        </p:blipFill>
        <p:spPr>
          <a:xfrm>
            <a:off x="8578215" y="365125"/>
            <a:ext cx="2440940" cy="2440940"/>
          </a:xfrm>
          <a:prstGeom prst="rect">
            <a:avLst/>
          </a:prstGeom>
        </p:spPr>
      </p:pic>
      <p:sp>
        <p:nvSpPr>
          <p:cNvPr id="5" name="文本框 4"/>
          <p:cNvSpPr txBox="1"/>
          <p:nvPr/>
        </p:nvSpPr>
        <p:spPr>
          <a:xfrm>
            <a:off x="8459470" y="2732405"/>
            <a:ext cx="2839720" cy="368300"/>
          </a:xfrm>
          <a:prstGeom prst="rect">
            <a:avLst/>
          </a:prstGeom>
          <a:noFill/>
        </p:spPr>
        <p:txBody>
          <a:bodyPr wrap="square" rtlCol="0">
            <a:spAutoFit/>
          </a:bodyPr>
          <a:p>
            <a:r>
              <a:rPr lang="en-US" altLang="zh-CN"/>
              <a:t>QR code for the google form</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Step 1  -- </a:t>
            </a:r>
            <a:r>
              <a:rPr lang="en-US" altLang="zh-CN" dirty="0">
                <a:ea typeface="宋体" panose="02010600030101010101" pitchFamily="2" charset="-122"/>
              </a:rPr>
              <a:t>OACD table generation</a:t>
            </a:r>
            <a:endParaRPr lang="en-US" altLang="zh-CN" dirty="0">
              <a:ea typeface="宋体" panose="02010600030101010101" pitchFamily="2" charset="-122"/>
            </a:endParaRPr>
          </a:p>
        </p:txBody>
      </p:sp>
      <p:sp>
        <p:nvSpPr>
          <p:cNvPr id="3" name="内容占位符 2"/>
          <p:cNvSpPr>
            <a:spLocks noGrp="1"/>
          </p:cNvSpPr>
          <p:nvPr>
            <p:ph idx="1"/>
          </p:nvPr>
        </p:nvSpPr>
        <p:spPr>
          <a:xfrm>
            <a:off x="838200" y="1825625"/>
            <a:ext cx="10515600" cy="4836246"/>
          </a:xfrm>
        </p:spPr>
        <p:txBody>
          <a:bodyPr vert="horz" lIns="91440" tIns="45720" rIns="91440" bIns="45720" rtlCol="0" anchor="t">
            <a:normAutofit fontScale="92500" lnSpcReduction="20000"/>
          </a:bodyPr>
          <a:lstStyle/>
          <a:p>
            <a:pPr marL="0" indent="0">
              <a:buNone/>
            </a:pPr>
            <a:r>
              <a:rPr lang="zh-CN" altLang="en-US">
                <a:ea typeface="宋体" panose="02010600030101010101" pitchFamily="2" charset="-122"/>
                <a:cs typeface="Calibri" panose="020F0502020204030204"/>
              </a:rPr>
              <a:t>Use OACD generation to create correct runs for your experiment</a:t>
            </a:r>
            <a:endParaRPr lang="zh-CN" altLang="en-US">
              <a:ea typeface="宋体" panose="02010600030101010101" pitchFamily="2" charset="-122"/>
              <a:cs typeface="Calibri" panose="020F0502020204030204"/>
            </a:endParaRPr>
          </a:p>
          <a:p>
            <a:pPr>
              <a:buFont typeface="Arial" panose="020B0604020202020204"/>
              <a:buChar char="•"/>
            </a:pPr>
            <a:r>
              <a:rPr lang="en-US" altLang="zh-CN" dirty="0">
                <a:ea typeface="宋体" panose="02010600030101010101" pitchFamily="2" charset="-122"/>
                <a:cs typeface="Calibri" panose="020F0502020204030204"/>
              </a:rPr>
              <a:t>Navigate to the </a:t>
            </a:r>
            <a:r>
              <a:rPr lang="en-US" altLang="zh-CN" b="1" dirty="0">
                <a:ea typeface="宋体" panose="02010600030101010101" pitchFamily="2" charset="-122"/>
                <a:cs typeface="Calibri" panose="020F0502020204030204"/>
              </a:rPr>
              <a:t>OACD Table Builder</a:t>
            </a:r>
            <a:r>
              <a:rPr lang="en-US" altLang="zh-CN" dirty="0">
                <a:ea typeface="宋体" panose="02010600030101010101" pitchFamily="2" charset="-122"/>
                <a:cs typeface="Calibri" panose="020F0502020204030204"/>
              </a:rPr>
              <a:t> tab</a:t>
            </a:r>
            <a:endParaRPr lang="en-US" altLang="zh-CN" dirty="0">
              <a:ea typeface="宋体" panose="02010600030101010101" pitchFamily="2" charset="-122"/>
              <a:cs typeface="Calibri" panose="020F0502020204030204"/>
            </a:endParaRPr>
          </a:p>
          <a:p>
            <a:pPr>
              <a:buFont typeface="Arial" panose="020B0604020202020204"/>
              <a:buChar char="•"/>
            </a:pPr>
            <a:r>
              <a:rPr lang="en-US" altLang="zh-CN" dirty="0">
                <a:ea typeface="宋体" panose="02010600030101010101" pitchFamily="2" charset="-122"/>
                <a:cs typeface="Calibri" panose="020F0502020204030204"/>
              </a:rPr>
              <a:t>Select </a:t>
            </a:r>
            <a:r>
              <a:rPr lang="en-US" altLang="zh-CN" b="1" dirty="0">
                <a:ea typeface="宋体" panose="02010600030101010101" pitchFamily="2" charset="-122"/>
                <a:cs typeface="Calibri" panose="020F0502020204030204"/>
              </a:rPr>
              <a:t>Number of Factors </a:t>
            </a:r>
            <a:r>
              <a:rPr lang="en-US" altLang="zh-CN" dirty="0">
                <a:ea typeface="宋体" panose="02010600030101010101" pitchFamily="2" charset="-122"/>
                <a:cs typeface="Calibri" panose="020F0502020204030204"/>
              </a:rPr>
              <a:t>–</a:t>
            </a:r>
            <a:r>
              <a:rPr lang="en-US" altLang="zh-CN" b="1" dirty="0">
                <a:ea typeface="宋体" panose="02010600030101010101" pitchFamily="2" charset="-122"/>
                <a:cs typeface="Calibri" panose="020F0502020204030204"/>
              </a:rPr>
              <a:t> </a:t>
            </a:r>
            <a:r>
              <a:rPr lang="en-US" altLang="zh-CN" dirty="0">
                <a:ea typeface="宋体" panose="02010600030101010101" pitchFamily="2" charset="-122"/>
                <a:cs typeface="Calibri" panose="020F0502020204030204"/>
              </a:rPr>
              <a:t>number of variables in the system</a:t>
            </a:r>
            <a:endParaRPr lang="en-US" altLang="zh-CN" dirty="0">
              <a:ea typeface="宋体" panose="02010600030101010101" pitchFamily="2" charset="-122"/>
              <a:cs typeface="Calibri" panose="020F0502020204030204"/>
            </a:endParaRPr>
          </a:p>
          <a:p>
            <a:pPr>
              <a:buFont typeface="Arial" panose="020B0604020202020204"/>
              <a:buChar char="•"/>
            </a:pPr>
            <a:r>
              <a:rPr lang="en-US" altLang="zh-CN" dirty="0">
                <a:ea typeface="宋体" panose="02010600030101010101" pitchFamily="2" charset="-122"/>
                <a:cs typeface="Calibri" panose="020F0502020204030204"/>
              </a:rPr>
              <a:t>Select </a:t>
            </a:r>
            <a:r>
              <a:rPr lang="en-US" altLang="zh-CN" b="1" dirty="0">
                <a:ea typeface="宋体" panose="02010600030101010101" pitchFamily="2" charset="-122"/>
                <a:cs typeface="Calibri" panose="020F0502020204030204"/>
              </a:rPr>
              <a:t>Table Size</a:t>
            </a:r>
            <a:r>
              <a:rPr lang="en-US" altLang="zh-CN" dirty="0">
                <a:ea typeface="宋体" panose="02010600030101010101" pitchFamily="2" charset="-122"/>
                <a:cs typeface="Calibri" panose="020F0502020204030204"/>
              </a:rPr>
              <a:t> – this scales the number of runs in the experiment</a:t>
            </a:r>
            <a:endParaRPr lang="en-US" altLang="zh-CN" dirty="0">
              <a:ea typeface="宋体" panose="02010600030101010101" pitchFamily="2" charset="-122"/>
              <a:cs typeface="Calibri" panose="020F0502020204030204"/>
            </a:endParaRPr>
          </a:p>
          <a:p>
            <a:pPr>
              <a:buFont typeface="Arial" panose="020B0604020202020204"/>
              <a:buChar char="•"/>
            </a:pPr>
            <a:r>
              <a:rPr lang="en-US" dirty="0">
                <a:ea typeface="Calibri" panose="020F0502020204030204"/>
                <a:cs typeface="Calibri" panose="020F0502020204030204"/>
              </a:rPr>
              <a:t>Under </a:t>
            </a:r>
            <a:r>
              <a:rPr lang="en-US" b="1" dirty="0">
                <a:ea typeface="Calibri" panose="020F0502020204030204"/>
                <a:cs typeface="Calibri" panose="020F0502020204030204"/>
              </a:rPr>
              <a:t>Factor Min/Max</a:t>
            </a:r>
            <a:r>
              <a:rPr lang="en-US" dirty="0">
                <a:ea typeface="Calibri" panose="020F0502020204030204"/>
                <a:cs typeface="Calibri" panose="020F0502020204030204"/>
              </a:rPr>
              <a:t>,</a:t>
            </a:r>
            <a:r>
              <a:rPr lang="en-US" b="1" dirty="0">
                <a:ea typeface="Calibri" panose="020F0502020204030204"/>
                <a:cs typeface="Calibri" panose="020F0502020204030204"/>
              </a:rPr>
              <a:t> </a:t>
            </a:r>
            <a:r>
              <a:rPr lang="en-US" dirty="0">
                <a:ea typeface="Calibri" panose="020F0502020204030204"/>
                <a:cs typeface="Calibri" panose="020F0502020204030204"/>
              </a:rPr>
              <a:t>s</a:t>
            </a:r>
            <a:r>
              <a:rPr lang="en-US" altLang="zh-CN" dirty="0">
                <a:ea typeface="宋体" panose="02010600030101010101" pitchFamily="2" charset="-122"/>
                <a:cs typeface="Calibri" panose="020F0502020204030204"/>
              </a:rPr>
              <a:t>et min and max values for each factor. Alternatively, you can import </a:t>
            </a:r>
            <a:r>
              <a:rPr lang="en-US" altLang="zh-CN" dirty="0" err="1">
                <a:ea typeface="宋体" panose="02010600030101010101" pitchFamily="2" charset="-122"/>
                <a:cs typeface="Calibri" panose="020F0502020204030204"/>
              </a:rPr>
              <a:t>extrenum</a:t>
            </a:r>
            <a:r>
              <a:rPr lang="en-US" altLang="zh-CN" dirty="0">
                <a:ea typeface="宋体" panose="02010600030101010101" pitchFamily="2" charset="-122"/>
                <a:cs typeface="Calibri" panose="020F0502020204030204"/>
              </a:rPr>
              <a:t> from a .xlsx file.</a:t>
            </a:r>
            <a:endParaRPr lang="en-US" altLang="zh-CN" b="1" dirty="0">
              <a:ea typeface="宋体" panose="02010600030101010101" pitchFamily="2" charset="-122"/>
              <a:cs typeface="Calibri" panose="020F0502020204030204"/>
            </a:endParaRPr>
          </a:p>
          <a:p>
            <a:pPr>
              <a:buFont typeface="Arial" panose="020B0604020202020204"/>
              <a:buChar char="•"/>
            </a:pPr>
            <a:r>
              <a:rPr lang="en-US" altLang="zh-CN" dirty="0">
                <a:ea typeface="宋体" panose="02010600030101010101" pitchFamily="2" charset="-122"/>
                <a:cs typeface="Calibri" panose="020F0502020204030204"/>
              </a:rPr>
              <a:t>If you only need a certain amount of factors to be non-zero, you can remove all experiments with more using </a:t>
            </a:r>
            <a:r>
              <a:rPr lang="en-US" altLang="zh-CN" b="1" dirty="0">
                <a:ea typeface="宋体" panose="02010600030101010101" pitchFamily="2" charset="-122"/>
                <a:cs typeface="Calibri" panose="020F0502020204030204"/>
              </a:rPr>
              <a:t>Max Nonzero Factors</a:t>
            </a:r>
            <a:endParaRPr lang="en-US" altLang="zh-CN" b="1" dirty="0">
              <a:ea typeface="宋体" panose="02010600030101010101" pitchFamily="2" charset="-122"/>
              <a:cs typeface="Calibri" panose="020F0502020204030204"/>
            </a:endParaRPr>
          </a:p>
          <a:p>
            <a:pPr>
              <a:buFont typeface="Arial" panose="020B0604020202020204"/>
              <a:buChar char="•"/>
            </a:pPr>
            <a:r>
              <a:rPr lang="en-US" altLang="zh-CN" dirty="0">
                <a:ea typeface="宋体" panose="02010600030101010101" pitchFamily="2" charset="-122"/>
                <a:cs typeface="Calibri" panose="020F0502020204030204"/>
              </a:rPr>
              <a:t>If a limitation is needed (ex: C1 + C2 + C3 &lt; 100), add a limit in </a:t>
            </a:r>
            <a:r>
              <a:rPr lang="en-US" altLang="zh-CN" b="1" dirty="0">
                <a:ea typeface="宋体" panose="02010600030101010101" pitchFamily="2" charset="-122"/>
                <a:cs typeface="Calibri" panose="020F0502020204030204"/>
              </a:rPr>
              <a:t>Parameter Limits</a:t>
            </a:r>
            <a:r>
              <a:rPr lang="en-US" altLang="zh-CN" dirty="0">
                <a:ea typeface="宋体" panose="02010600030101010101" pitchFamily="2" charset="-122"/>
                <a:cs typeface="Calibri" panose="020F0502020204030204"/>
              </a:rPr>
              <a:t>, then select that limit next to the corresponding factors in </a:t>
            </a:r>
            <a:r>
              <a:rPr lang="en-US" altLang="zh-CN" b="1" dirty="0">
                <a:ea typeface="宋体" panose="02010600030101010101" pitchFamily="2" charset="-122"/>
                <a:cs typeface="Calibri" panose="020F0502020204030204"/>
              </a:rPr>
              <a:t>Factor Min/Max</a:t>
            </a:r>
            <a:endParaRPr lang="en-US" altLang="zh-CN" b="1" dirty="0">
              <a:ea typeface="宋体" panose="02010600030101010101" pitchFamily="2" charset="-122"/>
              <a:cs typeface="Calibri" panose="020F0502020204030204"/>
            </a:endParaRPr>
          </a:p>
          <a:p>
            <a:pPr>
              <a:buFont typeface="Arial" panose="020B0604020202020204"/>
              <a:buChar char="•"/>
            </a:pPr>
            <a:r>
              <a:rPr lang="en-US" altLang="zh-CN" b="1" dirty="0">
                <a:ea typeface="宋体" panose="02010600030101010101" pitchFamily="2" charset="-122"/>
                <a:cs typeface="Calibri" panose="020F0502020204030204"/>
              </a:rPr>
              <a:t>Generate OACD Table</a:t>
            </a:r>
            <a:r>
              <a:rPr lang="en-US" altLang="zh-CN" dirty="0">
                <a:ea typeface="宋体" panose="02010600030101010101" pitchFamily="2" charset="-122"/>
                <a:cs typeface="Calibri" panose="020F0502020204030204"/>
              </a:rPr>
              <a:t>! You may then </a:t>
            </a:r>
            <a:r>
              <a:rPr lang="en-US" altLang="zh-CN" b="1" dirty="0">
                <a:ea typeface="宋体" panose="02010600030101010101" pitchFamily="2" charset="-122"/>
                <a:cs typeface="Calibri" panose="020F0502020204030204"/>
              </a:rPr>
              <a:t>Export as Excel </a:t>
            </a:r>
            <a:r>
              <a:rPr lang="en-US" altLang="zh-CN" dirty="0">
                <a:ea typeface="宋体" panose="02010600030101010101" pitchFamily="2" charset="-122"/>
                <a:cs typeface="Calibri" panose="020F0502020204030204"/>
              </a:rPr>
              <a:t>to have your experiment runs as a .xlsx file.</a:t>
            </a:r>
            <a:endParaRPr lang="en-US" altLang="zh-CN" dirty="0">
              <a:ea typeface="宋体" panose="02010600030101010101" pitchFamily="2" charset="-122"/>
              <a:cs typeface="Calibri" panose="020F0502020204030204"/>
            </a:endParaRPr>
          </a:p>
          <a:p>
            <a:pPr marL="0" indent="0">
              <a:buNone/>
            </a:pPr>
            <a:endParaRPr lang="zh-CN" altLang="en-US" dirty="0">
              <a:ea typeface="宋体" panose="02010600030101010101" pitchFamily="2" charset="-122"/>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2 -- Load data</a:t>
            </a:r>
            <a:endParaRPr lang="en-US"/>
          </a:p>
        </p:txBody>
      </p:sp>
      <p:sp>
        <p:nvSpPr>
          <p:cNvPr id="3" name="Content Placeholder 2"/>
          <p:cNvSpPr>
            <a:spLocks noGrp="1"/>
          </p:cNvSpPr>
          <p:nvPr>
            <p:ph idx="1"/>
          </p:nvPr>
        </p:nvSpPr>
        <p:spPr/>
        <p:txBody>
          <a:bodyPr/>
          <a:lstStyle/>
          <a:p>
            <a:r>
              <a:rPr lang="en-US" altLang="en-US"/>
              <a:t>Navigate to the</a:t>
            </a:r>
            <a:r>
              <a:rPr lang="en-US"/>
              <a:t> </a:t>
            </a:r>
            <a:r>
              <a:rPr lang="en-US" b="1"/>
              <a:t>CSR Integration</a:t>
            </a:r>
            <a:r>
              <a:rPr lang="en-US"/>
              <a:t> tab --&gt; Click on </a:t>
            </a:r>
            <a:r>
              <a:rPr lang="en-US" b="1"/>
              <a:t>Select Data File</a:t>
            </a:r>
            <a:r>
              <a:rPr lang="en-US"/>
              <a:t> --&gt; Choose the </a:t>
            </a:r>
            <a:r>
              <a:rPr lang="en-US" b="1"/>
              <a:t>.xlsx</a:t>
            </a:r>
            <a:r>
              <a:rPr lang="en-US"/>
              <a:t> file containing experimental data</a:t>
            </a:r>
            <a:endParaRPr lang="en-US"/>
          </a:p>
          <a:p>
            <a:r>
              <a:rPr lang="en-US"/>
              <a:t>The .xlsx file must follow the following format:</a:t>
            </a:r>
            <a:endParaRPr lang="en-US"/>
          </a:p>
          <a:p>
            <a:pPr lvl="1"/>
            <a:r>
              <a:rPr lang="en-US" altLang="en-US"/>
              <a:t>The first row specifies the names of all factors and results</a:t>
            </a:r>
            <a:r>
              <a:rPr lang="en-US"/>
              <a:t> </a:t>
            </a:r>
            <a:endParaRPr lang="en-US"/>
          </a:p>
          <a:p>
            <a:pPr lvl="1"/>
            <a:r>
              <a:rPr lang="en-US"/>
              <a:t>S</a:t>
            </a:r>
            <a:r>
              <a:rPr lang="en-US" altLang="en-US"/>
              <a:t>ubsequent rows contain the corresponding data entries.</a:t>
            </a:r>
            <a:endParaRPr lang="en-US" altLang="en-US"/>
          </a:p>
          <a:p>
            <a:r>
              <a:rPr lang="en-US"/>
              <a:t>Example:</a:t>
            </a:r>
            <a:endParaRPr lang="en-US"/>
          </a:p>
        </p:txBody>
      </p:sp>
      <p:pic>
        <p:nvPicPr>
          <p:cNvPr id="5" name="Picture 4"/>
          <p:cNvPicPr>
            <a:picLocks noChangeAspect="1"/>
          </p:cNvPicPr>
          <p:nvPr/>
        </p:nvPicPr>
        <p:blipFill>
          <a:blip r:embed="rId1"/>
          <a:stretch>
            <a:fillRect/>
          </a:stretch>
        </p:blipFill>
        <p:spPr>
          <a:xfrm>
            <a:off x="4078605" y="4362450"/>
            <a:ext cx="4827270" cy="2156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Step 3 -- Configure setting</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21970" y="1870710"/>
                <a:ext cx="11012805" cy="4351655"/>
              </a:xfrm>
            </p:spPr>
            <p:txBody>
              <a:bodyPr>
                <a:noAutofit/>
              </a:bodyPr>
              <a:lstStyle/>
              <a:p>
                <a:r>
                  <a:rPr lang="en-US" b="1"/>
                  <a:t>Extremum Objective</a:t>
                </a:r>
                <a:r>
                  <a:rPr lang="en-US"/>
                  <a:t>: Select between Maximum, Minimum, Maximum absolute value and </a:t>
                </a:r>
                <a:r>
                  <a:rPr lang="en-US">
                    <a:sym typeface="+mn-ea"/>
                  </a:rPr>
                  <a:t>Minimum absolute value </a:t>
                </a:r>
                <a:endParaRPr lang="en-US">
                  <a:sym typeface="+mn-ea"/>
                </a:endParaRPr>
              </a:p>
              <a:p>
                <a:r>
                  <a:rPr lang="en-US" b="1">
                    <a:sym typeface="+mn-ea"/>
                  </a:rPr>
                  <a:t>Normalization</a:t>
                </a:r>
                <a:r>
                  <a:rPr lang="en-US">
                    <a:sym typeface="+mn-ea"/>
                  </a:rPr>
                  <a:t>: Select between [-1, 1] and  [0, 1]</a:t>
                </a:r>
                <a:endParaRPr lang="en-US">
                  <a:sym typeface="+mn-ea"/>
                </a:endParaRPr>
              </a:p>
              <a:p>
                <a:r>
                  <a:rPr lang="en-US" b="1">
                    <a:sym typeface="+mn-ea"/>
                  </a:rPr>
                  <a:t>Show results for all parameter combinations (N down to 1) </a:t>
                </a:r>
                <a:r>
                  <a:rPr lang="en-US">
                    <a:sym typeface="+mn-ea"/>
                  </a:rPr>
                  <a:t>should be checked if one is interested in seeing all possible combinations</a:t>
                </a:r>
                <a:endParaRPr lang="en-US">
                  <a:sym typeface="+mn-ea"/>
                </a:endParaRPr>
              </a:p>
              <a:p>
                <a:r>
                  <a:rPr lang="en-US" altLang="zh-CN">
                    <a:sym typeface="+mn-ea"/>
                  </a:rPr>
                  <a:t>If a parameter limitation is to be set (for example,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𝐶</m:t>
                        </m:r>
                      </m:e>
                      <m:sub>
                        <m:r>
                          <a:rPr lang="en-US" altLang="zh-CN" i="1">
                            <a:latin typeface="Cambria Math" panose="02040503050406030204" pitchFamily="18" charset="0"/>
                            <a:cs typeface="Cambria Math" panose="02040503050406030204" pitchFamily="18" charset="0"/>
                            <a:sym typeface="+mn-ea"/>
                          </a:rPr>
                          <m:t>1</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𝐶</m:t>
                        </m:r>
                      </m:e>
                      <m:sub>
                        <m:r>
                          <a:rPr lang="en-US" altLang="zh-CN" i="1">
                            <a:latin typeface="Cambria Math" panose="02040503050406030204" pitchFamily="18" charset="0"/>
                            <a:cs typeface="Cambria Math" panose="02040503050406030204" pitchFamily="18" charset="0"/>
                            <a:sym typeface="+mn-ea"/>
                          </a:rPr>
                          <m:t>2</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𝐶</m:t>
                        </m:r>
                      </m:e>
                      <m:sub>
                        <m:r>
                          <a:rPr lang="en-US" altLang="zh-CN" i="1">
                            <a:latin typeface="Cambria Math" panose="02040503050406030204" pitchFamily="18" charset="0"/>
                            <a:cs typeface="Cambria Math" panose="02040503050406030204" pitchFamily="18" charset="0"/>
                            <a:sym typeface="+mn-ea"/>
                          </a:rPr>
                          <m:t>3</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100</m:t>
                    </m:r>
                  </m:oMath>
                </a14:m>
                <a:r>
                  <a:rPr lang="en-US" altLang="zh-CN">
                    <a:sym typeface="+mn-ea"/>
                  </a:rPr>
                  <a:t>), navigate to </a:t>
                </a:r>
                <a:r>
                  <a:rPr lang="en-US" altLang="zh-CN" b="1">
                    <a:sym typeface="+mn-ea"/>
                  </a:rPr>
                  <a:t>Parameter Limits Section</a:t>
                </a:r>
                <a:r>
                  <a:rPr lang="en-US" altLang="zh-CN">
                    <a:sym typeface="+mn-ea"/>
                  </a:rPr>
                  <a:t>, click the checkbox if the factor should be included in that limit, then set limit value at </a:t>
                </a:r>
                <a:r>
                  <a:rPr lang="en-US" altLang="zh-CN" b="1">
                    <a:sym typeface="+mn-ea"/>
                  </a:rPr>
                  <a:t>CSR Factor Limits</a:t>
                </a:r>
                <a:r>
                  <a:rPr lang="en-US" altLang="zh-CN">
                    <a:sym typeface="+mn-ea"/>
                  </a:rPr>
                  <a:t>, click </a:t>
                </a:r>
                <a:r>
                  <a:rPr lang="en-US" altLang="zh-CN" b="1">
                    <a:sym typeface="+mn-ea"/>
                  </a:rPr>
                  <a:t>add limit</a:t>
                </a:r>
                <a:r>
                  <a:rPr lang="en-US" altLang="zh-CN">
                    <a:sym typeface="+mn-ea"/>
                  </a:rPr>
                  <a:t>. If the limit needs to be removed, click on </a:t>
                </a:r>
                <a:r>
                  <a:rPr lang="en-US" altLang="zh-CN" b="1">
                    <a:sym typeface="+mn-ea"/>
                  </a:rPr>
                  <a:t>Remove selected </a:t>
                </a:r>
                <a:r>
                  <a:rPr lang="en-US" altLang="zh-CN">
                    <a:sym typeface="+mn-ea"/>
                  </a:rPr>
                  <a:t>or </a:t>
                </a:r>
                <a:r>
                  <a:rPr lang="en-US" altLang="zh-CN" b="1">
                    <a:sym typeface="+mn-ea"/>
                  </a:rPr>
                  <a:t>Clear all</a:t>
                </a:r>
                <a:endParaRPr lang="en-US">
                  <a:sym typeface="+mn-ea"/>
                </a:endParaRPr>
              </a:p>
              <a:p>
                <a:endParaRPr lang="en-US" altLang="zh-CN">
                  <a:sym typeface="+mn-ea"/>
                </a:endParaRPr>
              </a:p>
              <a:p>
                <a:endParaRPr lang="en-US" altLang="zh-CN">
                  <a:sym typeface="+mn-ea"/>
                </a:endParaRPr>
              </a:p>
              <a:p>
                <a:endParaRPr lang="en-US">
                  <a:sym typeface="+mn-ea"/>
                </a:endParaRPr>
              </a:p>
              <a:p>
                <a:endParaRPr lang="en-US" b="1">
                  <a:sym typeface="+mn-ea"/>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21970" y="1870710"/>
                <a:ext cx="11012805" cy="4351655"/>
              </a:xfrm>
              <a:blipFill rotWithShape="1">
                <a:blip r:embed="rId1"/>
                <a:stretch>
                  <a:fillRect b="-44871"/>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Step 3 -- Configure setting</a:t>
            </a:r>
            <a:endParaRPr lang="en-US"/>
          </a:p>
        </p:txBody>
      </p:sp>
      <p:sp>
        <p:nvSpPr>
          <p:cNvPr id="3" name="Content Placeholder 2"/>
          <p:cNvSpPr>
            <a:spLocks noGrp="1"/>
          </p:cNvSpPr>
          <p:nvPr>
            <p:ph idx="1"/>
          </p:nvPr>
        </p:nvSpPr>
        <p:spPr>
          <a:xfrm>
            <a:off x="521970" y="1735455"/>
            <a:ext cx="11012805" cy="4351655"/>
          </a:xfrm>
        </p:spPr>
        <p:txBody>
          <a:bodyPr>
            <a:noAutofit/>
          </a:bodyPr>
          <a:lstStyle/>
          <a:p>
            <a:r>
              <a:rPr lang="en-US" altLang="en-US">
                <a:sym typeface="+mn-ea"/>
              </a:rPr>
              <a:t>Under </a:t>
            </a:r>
            <a:r>
              <a:rPr lang="en-US" altLang="en-US" b="1">
                <a:sym typeface="+mn-ea"/>
              </a:rPr>
              <a:t>Parameter or Outcome?</a:t>
            </a:r>
            <a:r>
              <a:rPr lang="en-US" altLang="en-US">
                <a:sym typeface="+mn-ea"/>
              </a:rPr>
              <a:t>, select if the parameter belongs to parameter, outcome, or ignore. If more than one outcomes are chosen, then multiple objective optimization is activated. outcome(+) denotes maximizing the outcome, </a:t>
            </a:r>
            <a:r>
              <a:rPr lang="en-US" altLang="en-US">
                <a:sym typeface="+mn-ea"/>
              </a:rPr>
              <a:t>outcome(-) denotes minimizing the outcome</a:t>
            </a:r>
            <a:endParaRPr lang="en-US" altLang="en-US">
              <a:sym typeface="+mn-ea"/>
            </a:endParaRPr>
          </a:p>
          <a:p>
            <a:r>
              <a:rPr lang="en-US" altLang="en-US">
                <a:sym typeface="+mn-ea"/>
              </a:rPr>
              <a:t>After all is set, click on </a:t>
            </a:r>
            <a:r>
              <a:rPr lang="en-US" altLang="en-US" b="1">
                <a:sym typeface="+mn-ea"/>
              </a:rPr>
              <a:t>Run Fitting Process</a:t>
            </a:r>
            <a:endParaRPr lang="en-US" altLang="en-US" b="1">
              <a:sym typeface="+mn-ea"/>
            </a:endParaRPr>
          </a:p>
          <a:p>
            <a:endParaRPr lang="en-US" altLang="en-US">
              <a:sym typeface="+mn-ea"/>
            </a:endParaRPr>
          </a:p>
          <a:p>
            <a:endParaRPr lang="en-US" altLang="zh-CN">
              <a:sym typeface="+mn-ea"/>
            </a:endParaRPr>
          </a:p>
          <a:p>
            <a:endParaRPr lang="en-US">
              <a:sym typeface="+mn-ea"/>
            </a:endParaRPr>
          </a:p>
          <a:p>
            <a:endParaRPr lang="en-US" b="1">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Step 4 -- Output</a:t>
            </a:r>
            <a:endParaRPr lang="en-US"/>
          </a:p>
        </p:txBody>
      </p:sp>
      <p:sp>
        <p:nvSpPr>
          <p:cNvPr id="3" name="Content Placeholder 2"/>
          <p:cNvSpPr>
            <a:spLocks noGrp="1"/>
          </p:cNvSpPr>
          <p:nvPr>
            <p:ph idx="1"/>
          </p:nvPr>
        </p:nvSpPr>
        <p:spPr>
          <a:xfrm>
            <a:off x="838200" y="1825625"/>
            <a:ext cx="10515600" cy="4940935"/>
          </a:xfrm>
        </p:spPr>
        <p:txBody>
          <a:bodyPr>
            <a:normAutofit lnSpcReduction="20000"/>
          </a:bodyPr>
          <a:lstStyle/>
          <a:p>
            <a:pPr fontAlgn="auto">
              <a:lnSpc>
                <a:spcPct val="90000"/>
              </a:lnSpc>
              <a:spcBef>
                <a:spcPts val="1300"/>
              </a:spcBef>
            </a:pPr>
            <a:r>
              <a:rPr lang="en-US" altLang="en-US" b="1"/>
              <a:t>CSR Equation </a:t>
            </a:r>
            <a:r>
              <a:rPr lang="en-US" altLang="en-US"/>
              <a:t>displays the numerical expression of the fitted equation.</a:t>
            </a:r>
            <a:endParaRPr lang="en-US" altLang="en-US"/>
          </a:p>
          <a:p>
            <a:pPr fontAlgn="auto">
              <a:lnSpc>
                <a:spcPct val="90000"/>
              </a:lnSpc>
              <a:spcBef>
                <a:spcPts val="1300"/>
              </a:spcBef>
            </a:pPr>
            <a:r>
              <a:rPr lang="en-US" altLang="en-US" b="1"/>
              <a:t>Parameter Definitions</a:t>
            </a:r>
            <a:r>
              <a:rPr lang="en-US" altLang="en-US"/>
              <a:t> list the names of the parameters used in the function.</a:t>
            </a:r>
            <a:endParaRPr lang="en-US" altLang="en-US"/>
          </a:p>
          <a:p>
            <a:pPr fontAlgn="auto">
              <a:lnSpc>
                <a:spcPct val="90000"/>
              </a:lnSpc>
              <a:spcBef>
                <a:spcPts val="1300"/>
              </a:spcBef>
            </a:pPr>
            <a:r>
              <a:rPr lang="en-US" altLang="en-US" b="1"/>
              <a:t>Extremum</a:t>
            </a:r>
            <a:r>
              <a:rPr lang="en-US" altLang="en-US"/>
              <a:t> indicates the maximum/minimum point of the plot. If multiple result columns are selected, then </a:t>
            </a:r>
            <a:r>
              <a:rPr lang="en-US" altLang="en-US" b="1"/>
              <a:t>Individual Results at Extremum</a:t>
            </a:r>
            <a:r>
              <a:rPr lang="en-US" altLang="en-US"/>
              <a:t> will be shown below</a:t>
            </a:r>
            <a:endParaRPr lang="en-US" altLang="en-US"/>
          </a:p>
          <a:p>
            <a:pPr fontAlgn="auto">
              <a:lnSpc>
                <a:spcPct val="90000"/>
              </a:lnSpc>
              <a:spcBef>
                <a:spcPts val="1300"/>
              </a:spcBef>
            </a:pPr>
            <a:r>
              <a:rPr lang="en-US" altLang="en-US" b="1"/>
              <a:t>Model Fit</a:t>
            </a:r>
            <a:r>
              <a:rPr lang="en-US" altLang="en-US"/>
              <a:t> provides the R-square and root mean square error (RMSE) value of the model</a:t>
            </a:r>
            <a:endParaRPr lang="en-US" altLang="en-US"/>
          </a:p>
          <a:p>
            <a:pPr fontAlgn="auto">
              <a:lnSpc>
                <a:spcPct val="90000"/>
              </a:lnSpc>
              <a:spcBef>
                <a:spcPts val="1300"/>
              </a:spcBef>
            </a:pPr>
            <a:r>
              <a:rPr lang="en-US" altLang="en-US" b="1"/>
              <a:t>Actual vs. Predicted Values</a:t>
            </a:r>
            <a:r>
              <a:rPr lang="en-US" altLang="en-US"/>
              <a:t> presents the deviations between predicted outcomes and observed data.</a:t>
            </a:r>
            <a:endParaRPr lang="en-US" altLang="en-US"/>
          </a:p>
          <a:p>
            <a:pPr fontAlgn="auto">
              <a:lnSpc>
                <a:spcPct val="90000"/>
              </a:lnSpc>
              <a:spcBef>
                <a:spcPts val="1300"/>
              </a:spcBef>
            </a:pPr>
            <a:r>
              <a:rPr lang="en-US" altLang="en-US" b="1"/>
              <a:t>CSR Response Surface Plot</a:t>
            </a:r>
            <a:r>
              <a:rPr lang="en-US" altLang="en-US"/>
              <a:t> provides a graphical representation of the fitted CSR function.</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Step 4 -- Output</a:t>
            </a:r>
            <a:endParaRPr lang="en-US"/>
          </a:p>
        </p:txBody>
      </p:sp>
      <p:sp>
        <p:nvSpPr>
          <p:cNvPr id="3" name="Content Placeholder 2"/>
          <p:cNvSpPr>
            <a:spLocks noGrp="1"/>
          </p:cNvSpPr>
          <p:nvPr>
            <p:ph idx="1"/>
          </p:nvPr>
        </p:nvSpPr>
        <p:spPr>
          <a:xfrm>
            <a:off x="838200" y="1825625"/>
            <a:ext cx="10124440" cy="4351655"/>
          </a:xfrm>
        </p:spPr>
        <p:txBody>
          <a:bodyPr/>
          <a:lstStyle/>
          <a:p>
            <a:r>
              <a:rPr lang="en-US" altLang="en-US">
                <a:sym typeface="+mn-ea"/>
              </a:rPr>
              <a:t>Navigate to the</a:t>
            </a:r>
            <a:r>
              <a:rPr lang="en-US">
                <a:sym typeface="+mn-ea"/>
              </a:rPr>
              <a:t> </a:t>
            </a:r>
            <a:r>
              <a:rPr lang="en-US" b="1">
                <a:sym typeface="+mn-ea"/>
              </a:rPr>
              <a:t>Coefficient analysis</a:t>
            </a:r>
            <a:r>
              <a:rPr lang="en-US">
                <a:sym typeface="+mn-ea"/>
              </a:rPr>
              <a:t> tab after fitting is complete</a:t>
            </a:r>
            <a:endParaRPr lang="en-US">
              <a:sym typeface="+mn-ea"/>
            </a:endParaRPr>
          </a:p>
          <a:p>
            <a:r>
              <a:rPr lang="en-US">
                <a:sym typeface="+mn-ea"/>
              </a:rPr>
              <a:t>In </a:t>
            </a:r>
            <a:r>
              <a:rPr lang="en-US" b="1">
                <a:sym typeface="+mn-ea"/>
              </a:rPr>
              <a:t>Analysis Controls </a:t>
            </a:r>
            <a:r>
              <a:rPr lang="en-US">
                <a:sym typeface="+mn-ea"/>
              </a:rPr>
              <a:t>select whether the coefficient shall be determined when the factors are at minimum, maximum or extremum</a:t>
            </a:r>
            <a:endParaRPr lang="en-US">
              <a:sym typeface="+mn-ea"/>
            </a:endParaRPr>
          </a:p>
          <a:p>
            <a:r>
              <a:rPr lang="en-US"/>
              <a:t>The pie charts demonstrate the distribution of the coefficient absolute values in terms of linear (</a:t>
            </a:r>
            <a:r>
              <a:rPr lang="en-US" altLang="zh-CN">
                <a:sym typeface="+mn-ea"/>
              </a:rPr>
              <a:t>x</a:t>
            </a:r>
            <a:r>
              <a:rPr lang="en-US" altLang="en-US">
                <a:sym typeface="+mn-ea"/>
              </a:rPr>
              <a:t>ᵢ</a:t>
            </a:r>
            <a:r>
              <a:rPr lang="en-US"/>
              <a:t>), quadratic (</a:t>
            </a:r>
            <a:r>
              <a:rPr lang="en-US" altLang="zh-CN">
                <a:sym typeface="+mn-ea"/>
              </a:rPr>
              <a:t>x</a:t>
            </a:r>
            <a:r>
              <a:rPr lang="en-US" altLang="en-US">
                <a:sym typeface="+mn-ea"/>
              </a:rPr>
              <a:t>ᵢᵢ</a:t>
            </a:r>
            <a:r>
              <a:rPr lang="en-US"/>
              <a:t>) and interaction (</a:t>
            </a:r>
            <a:r>
              <a:rPr lang="en-US" altLang="zh-CN">
                <a:sym typeface="+mn-ea"/>
              </a:rPr>
              <a:t>x</a:t>
            </a:r>
            <a:r>
              <a:rPr lang="en-US" altLang="en-US">
                <a:sym typeface="+mn-ea"/>
              </a:rPr>
              <a:t>ᵢⱼ</a:t>
            </a:r>
            <a:r>
              <a:rPr lang="en-US"/>
              <a:t>) terms</a:t>
            </a:r>
            <a:endParaRPr lang="en-US"/>
          </a:p>
        </p:txBody>
      </p:sp>
    </p:spTree>
  </p:cSld>
  <p:clrMapOvr>
    <a:masterClrMapping/>
  </p:clrMapOvr>
</p:sld>
</file>

<file path=ppt/tags/tag1.xml><?xml version="1.0" encoding="utf-8"?>
<p:tagLst xmlns:p="http://schemas.openxmlformats.org/presentationml/2006/main">
  <p:tag name="KSO_WM_DIAGRAM_VIRTUALLY_FRAME" val="{&quot;height&quot;:171.35,&quot;left&quot;:165.05,&quot;top&quot;:244.25,&quot;width&quot;:746.2}"/>
</p:tagLst>
</file>

<file path=ppt/tags/tag2.xml><?xml version="1.0" encoding="utf-8"?>
<p:tagLst xmlns:p="http://schemas.openxmlformats.org/presentationml/2006/main">
  <p:tag name="KSO_WM_DIAGRAM_VIRTUALLY_FRAME" val="{&quot;height&quot;:171.35,&quot;left&quot;:165.05,&quot;top&quot;:244.25,&quot;width&quot;:746.2}"/>
</p:tagLst>
</file>

<file path=ppt/tags/tag3.xml><?xml version="1.0" encoding="utf-8"?>
<p:tagLst xmlns:p="http://schemas.openxmlformats.org/presentationml/2006/main">
  <p:tag name="KSO_WM_DIAGRAM_VIRTUALLY_FRAME" val="{&quot;height&quot;:171.35,&quot;left&quot;:165.05,&quot;top&quot;:244.25,&quot;width&quot;:746.2}"/>
</p:tagLst>
</file>

<file path=ppt/tags/tag4.xml><?xml version="1.0" encoding="utf-8"?>
<p:tagLst xmlns:p="http://schemas.openxmlformats.org/presentationml/2006/main">
  <p:tag name="KSO_WM_DIAGRAM_VIRTUALLY_FRAME" val="{&quot;height&quot;:171.35,&quot;left&quot;:165.05,&quot;top&quot;:244.25,&quot;width&quot;:746.2}"/>
</p:tagLst>
</file>

<file path=ppt/tags/tag5.xml><?xml version="1.0" encoding="utf-8"?>
<p:tagLst xmlns:p="http://schemas.openxmlformats.org/presentationml/2006/main">
  <p:tag name="KSO_WM_DIAGRAM_VIRTUALLY_FRAME" val="{&quot;height&quot;:171.35,&quot;left&quot;:165.05,&quot;top&quot;:244.25,&quot;width&quot;:746.2}"/>
</p:tagLst>
</file>

<file path=ppt/tags/tag6.xml><?xml version="1.0" encoding="utf-8"?>
<p:tagLst xmlns:p="http://schemas.openxmlformats.org/presentationml/2006/main">
  <p:tag name="KSO_WM_DIAGRAM_VIRTUALLY_FRAME" val="{&quot;height&quot;:171.35,&quot;left&quot;:165.05,&quot;top&quot;:244.25,&quot;width&quot;:746.2}"/>
</p:tagLst>
</file>

<file path=ppt/tags/tag7.xml><?xml version="1.0" encoding="utf-8"?>
<p:tagLst xmlns:p="http://schemas.openxmlformats.org/presentationml/2006/main">
  <p:tag name="KSO_WM_DIAGRAM_VIRTUALLY_FRAME" val="{&quot;height&quot;:171.35,&quot;left&quot;:165.05,&quot;top&quot;:244.25,&quot;width&quot;:746.2}"/>
</p:tagLst>
</file>

<file path=ppt/tags/tag8.xml><?xml version="1.0" encoding="utf-8"?>
<p:tagLst xmlns:p="http://schemas.openxmlformats.org/presentationml/2006/main">
  <p:tag name="KSO_WM_DIAGRAM_VIRTUALLY_FRAME" val="{&quot;height&quot;:171.35,&quot;left&quot;:165.05,&quot;top&quot;:244.25,&quot;width&quot;:74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8733</Words>
  <Application>WPS 演示</Application>
  <PresentationFormat>Widescreen</PresentationFormat>
  <Paragraphs>194</Paragraphs>
  <Slides>14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宋体</vt:lpstr>
      <vt:lpstr>Wingdings</vt:lpstr>
      <vt:lpstr>Calibri</vt:lpstr>
      <vt:lpstr>Calibri</vt:lpstr>
      <vt:lpstr>Arial</vt:lpstr>
      <vt:lpstr>Cambria Math</vt:lpstr>
      <vt:lpstr>Calibri Light</vt:lpstr>
      <vt:lpstr>微软雅黑</vt:lpstr>
      <vt:lpstr>Arial Unicode MS</vt:lpstr>
      <vt:lpstr>Office Theme</vt:lpstr>
      <vt:lpstr>CSR APP Instruction</vt:lpstr>
      <vt:lpstr>Disclaimer</vt:lpstr>
      <vt:lpstr>Terminology</vt:lpstr>
      <vt:lpstr>Terminology</vt:lpstr>
      <vt:lpstr>Introduction to CSR Equation</vt:lpstr>
      <vt:lpstr>Introduction to CSR Equation</vt:lpstr>
      <vt:lpstr>Flow chart</vt:lpstr>
      <vt:lpstr>PowerPoint 演示文稿</vt:lpstr>
      <vt:lpstr>Step 1  -- OACD table generation</vt:lpstr>
      <vt:lpstr>Step 2 -- Load data</vt:lpstr>
      <vt:lpstr>Step 3 -- Configure setting</vt:lpstr>
      <vt:lpstr>Step 3 -- Configure setting</vt:lpstr>
      <vt:lpstr>Step 4 -- Output</vt:lpstr>
      <vt:lpstr>Step 4 -- Output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Xinyang Tong</dc:creator>
  <cp:lastModifiedBy>cuzno</cp:lastModifiedBy>
  <cp:revision>320</cp:revision>
  <dcterms:created xsi:type="dcterms:W3CDTF">2025-07-23T00:59:00Z</dcterms:created>
  <dcterms:modified xsi:type="dcterms:W3CDTF">2025-11-24T19:02:13Z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2052-12.1.0.23542</vt:lpwstr>
  </property>
</Properties>
</file>