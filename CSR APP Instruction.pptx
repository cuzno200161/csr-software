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256" r:id="rId2"/>
    <p:sldId id="262" r:id="rId3"/>
    <p:sldId id="267" r:id="rId4"/>
    <p:sldId id="268" r:id="rId5"/>
    <p:sldId id="258" r:id="rId6"/>
    <p:sldId id="269" r:id="rId7"/>
    <p:sldId id="263" r:id="rId8"/>
    <p:sldId id="264" r:id="rId9"/>
    <p:sldId id="257" r:id="rId10"/>
    <p:sldId id="265" r:id="rId11"/>
    <p:sldId id="266" r:id="rId12"/>
    <p:sldId id="260" r:id="rId13"/>
    <p:sldId id="261"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3"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 Ho" initials="CH"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E1012C5-66BE-41A0-A83B-9A46F0571C5F}" v="1127" dt="2025-11-21T09:25:41.008"/>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93"/>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ng Lo" userId="120b0b76e050b59f" providerId="Windows Live" clId="Web-{3E1012C5-66BE-41A0-A83B-9A46F0571C5F}"/>
    <pc:docChg chg="modSld">
      <pc:chgData name="Ming Lo" userId="120b0b76e050b59f" providerId="Windows Live" clId="Web-{3E1012C5-66BE-41A0-A83B-9A46F0571C5F}" dt="2025-11-21T09:25:41.008" v="1126" actId="20577"/>
      <pc:docMkLst>
        <pc:docMk/>
      </pc:docMkLst>
      <pc:sldChg chg="modSp">
        <pc:chgData name="Ming Lo" userId="120b0b76e050b59f" providerId="Windows Live" clId="Web-{3E1012C5-66BE-41A0-A83B-9A46F0571C5F}" dt="2025-11-21T09:25:41.008" v="1126" actId="20577"/>
        <pc:sldMkLst>
          <pc:docMk/>
          <pc:sldMk cId="0" sldId="264"/>
        </pc:sldMkLst>
        <pc:spChg chg="mod">
          <ac:chgData name="Ming Lo" userId="120b0b76e050b59f" providerId="Windows Live" clId="Web-{3E1012C5-66BE-41A0-A83B-9A46F0571C5F}" dt="2025-11-21T09:09:15.831" v="288" actId="20577"/>
          <ac:spMkLst>
            <pc:docMk/>
            <pc:sldMk cId="0" sldId="264"/>
            <ac:spMk id="2" creationId="{00000000-0000-0000-0000-000000000000}"/>
          </ac:spMkLst>
        </pc:spChg>
        <pc:spChg chg="mod">
          <ac:chgData name="Ming Lo" userId="120b0b76e050b59f" providerId="Windows Live" clId="Web-{3E1012C5-66BE-41A0-A83B-9A46F0571C5F}" dt="2025-11-21T09:25:41.008" v="1126" actId="20577"/>
          <ac:spMkLst>
            <pc:docMk/>
            <pc:sldMk cId="0" sldId="264"/>
            <ac:spMk id="3" creationId="{00000000-0000-0000-0000-000000000000}"/>
          </ac:spMkLst>
        </pc:spChg>
      </pc:sldChg>
      <pc:sldChg chg="modSp">
        <pc:chgData name="Ming Lo" userId="120b0b76e050b59f" providerId="Windows Live" clId="Web-{3E1012C5-66BE-41A0-A83B-9A46F0571C5F}" dt="2025-11-21T09:21:28.754" v="879" actId="1076"/>
        <pc:sldMkLst>
          <pc:docMk/>
          <pc:sldMk cId="0" sldId="266"/>
        </pc:sldMkLst>
        <pc:spChg chg="mod">
          <ac:chgData name="Ming Lo" userId="120b0b76e050b59f" providerId="Windows Live" clId="Web-{3E1012C5-66BE-41A0-A83B-9A46F0571C5F}" dt="2025-11-21T09:21:28.754" v="879" actId="1076"/>
          <ac:spMkLst>
            <pc:docMk/>
            <pc:sldMk cId="0" sldId="266"/>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2025/11/21</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11/21/2025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542D3B-516C-4540-A2E1-374EBBF9159E}" type="slidenum">
              <a:rPr lang="en-US" smtClean="0"/>
              <a:t>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3A1C593-65D0-4073-BCC9-577B9352EA97}"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3A1C593-65D0-4073-BCC9-577B9352EA97}" type="datetimeFigureOut">
              <a:rPr lang="en-US" smtClean="0"/>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3A1C593-65D0-4073-BCC9-577B9352EA97}" type="datetimeFigureOut">
              <a:rPr lang="en-US" smtClean="0"/>
              <a:t>11/21/2025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A1C593-65D0-4073-BCC9-577B9352EA97}" type="datetimeFigureOut">
              <a:rPr lang="en-US" smtClean="0"/>
              <a:t>11/21/2025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11/21/2025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t>11/21/2025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9"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ltLang="en-US" dirty="0"/>
              <a:t>CSR APP Instruction</a:t>
            </a:r>
          </a:p>
        </p:txBody>
      </p:sp>
      <p:sp>
        <p:nvSpPr>
          <p:cNvPr id="3" name="Subtitle 2"/>
          <p:cNvSpPr>
            <a:spLocks noGrp="1"/>
          </p:cNvSpPr>
          <p:nvPr>
            <p:ph type="subTitle" idx="1"/>
          </p:nvPr>
        </p:nvSpPr>
        <p:spPr/>
        <p:txBody>
          <a:bodyPr/>
          <a:lstStyle/>
          <a:p>
            <a:r>
              <a:rPr lang="en-US"/>
              <a:t>Sept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Disclaimer</a:t>
            </a:r>
          </a:p>
        </p:txBody>
      </p:sp>
      <p:sp>
        <p:nvSpPr>
          <p:cNvPr id="3" name="Content Placeholder 2"/>
          <p:cNvSpPr>
            <a:spLocks noGrp="1"/>
          </p:cNvSpPr>
          <p:nvPr>
            <p:ph idx="1"/>
          </p:nvPr>
        </p:nvSpPr>
        <p:spPr/>
        <p:txBody>
          <a:bodyPr>
            <a:normAutofit fontScale="90000"/>
          </a:bodyPr>
          <a:lstStyle/>
          <a:p>
            <a:pPr marL="0" indent="0">
              <a:buNone/>
            </a:pPr>
            <a:r>
              <a:rPr lang="en-US" altLang="zh-CN"/>
              <a:t>This software is provided free of charge for anyone to download and use. While every effort has been made to ensure its functionality and stability, the developers make no warranties or guarantees regarding the accuracy, reliability, or suitability of the results produced.</a:t>
            </a:r>
          </a:p>
          <a:p>
            <a:pPr marL="0" indent="0">
              <a:buNone/>
            </a:pPr>
            <a:r>
              <a:rPr lang="en-US" altLang="zh-CN"/>
              <a:t>Users are solely responsible for how they interpret, apply, or rely upon any outputs generated by the software. The developers shall not be held liable for any errors, misinterpretations, losses, or consequences arising from its use.</a:t>
            </a:r>
          </a:p>
          <a:p>
            <a:pPr marL="0" indent="0">
              <a:buNone/>
            </a:pPr>
            <a:r>
              <a:rPr lang="en-US" altLang="zh-CN"/>
              <a:t>Furthermore, the developers do not collect, store, or retain any user data. All computations and outputs remain entirely under the user’s control.</a:t>
            </a:r>
          </a:p>
          <a:p>
            <a:pPr marL="0" indent="0">
              <a:buNone/>
            </a:pPr>
            <a:r>
              <a:rPr lang="en-US" altLang="zh-CN"/>
              <a:t>By downloading or using this software, the user acknowledges and agrees to these terms.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206375"/>
            <a:ext cx="10515600" cy="1325563"/>
          </a:xfrm>
        </p:spPr>
        <p:txBody>
          <a:bodyPr/>
          <a:lstStyle/>
          <a:p>
            <a:r>
              <a:rPr lang="en-US" altLang="zh-CN"/>
              <a:t>Terminology</a:t>
            </a:r>
          </a:p>
        </p:txBody>
      </p:sp>
      <p:sp>
        <p:nvSpPr>
          <p:cNvPr id="3" name="内容占位符 2"/>
          <p:cNvSpPr>
            <a:spLocks noGrp="1"/>
          </p:cNvSpPr>
          <p:nvPr>
            <p:ph idx="1"/>
          </p:nvPr>
        </p:nvSpPr>
        <p:spPr>
          <a:xfrm>
            <a:off x="888365" y="1306195"/>
            <a:ext cx="11492230" cy="4351655"/>
          </a:xfrm>
        </p:spPr>
        <p:txBody>
          <a:bodyPr>
            <a:normAutofit fontScale="25000"/>
          </a:bodyPr>
          <a:lstStyle/>
          <a:p>
            <a:pPr marL="0" indent="0">
              <a:buNone/>
            </a:pPr>
            <a:r>
              <a:rPr lang="en-US" altLang="zh-CN" sz="6400" b="1"/>
              <a:t>1. CSR Equation (Complex Systems Response Equation)</a:t>
            </a:r>
          </a:p>
          <a:p>
            <a:pPr marL="0" indent="0">
              <a:buNone/>
            </a:pPr>
            <a:r>
              <a:rPr lang="en-US" altLang="zh-CN" sz="6400"/>
              <a:t>A deterministic, second-order nonlinear equation that quantitatively maps how multiple interacting parameters lead to an emergent system property. It expresses the relationship between controllable parameters </a:t>
            </a:r>
          </a:p>
          <a:p>
            <a:pPr marL="0" indent="0">
              <a:buNone/>
            </a:pPr>
            <a:r>
              <a:rPr lang="en-US" altLang="zh-CN" sz="6400" b="1"/>
              <a:t>2. CSR Response Surface</a:t>
            </a:r>
          </a:p>
          <a:p>
            <a:pPr marL="0" indent="0">
              <a:buNone/>
            </a:pPr>
            <a:r>
              <a:rPr lang="en-US" altLang="zh-CN" sz="6400"/>
              <a:t>A multidimensional surface defined by the CSR equation that visualizes how the emergent property changes with varying parameters. It can take the form of an elliptic or hyperbolic paraboloid, typically featuring a single global optimum.</a:t>
            </a:r>
          </a:p>
          <a:p>
            <a:pPr marL="0" indent="0">
              <a:buNone/>
            </a:pPr>
            <a:r>
              <a:rPr lang="en-US" altLang="zh-CN" sz="6400" b="1"/>
              <a:t>3. Parameters, parameter levels and parameter range</a:t>
            </a:r>
          </a:p>
          <a:p>
            <a:pPr marL="0" indent="0">
              <a:buNone/>
            </a:pPr>
            <a:r>
              <a:rPr lang="en-US" altLang="zh-CN" sz="6400"/>
              <a:t>Parameters are the controllable factors in the complex system that are of interest to researchers. Parameter levels are the specific values of the parameters that researchers choose when investigating a complex system. Parameter range is defined by the minimum and maximum of the parameter levels.</a:t>
            </a:r>
          </a:p>
          <a:p>
            <a:pPr marL="0" indent="0">
              <a:buNone/>
            </a:pPr>
            <a:r>
              <a:rPr lang="en-US" altLang="zh-CN" sz="6400" b="1"/>
              <a:t>4. Coefficients (x</a:t>
            </a:r>
            <a:r>
              <a:rPr lang="en-US" altLang="en-US" sz="6400" b="1"/>
              <a:t>₀</a:t>
            </a:r>
            <a:r>
              <a:rPr lang="en-US" altLang="zh-CN" sz="6400" b="1"/>
              <a:t>, x</a:t>
            </a:r>
            <a:r>
              <a:rPr lang="en-US" altLang="en-US" sz="6400" b="1"/>
              <a:t>ᵢ</a:t>
            </a:r>
            <a:r>
              <a:rPr lang="en-US" altLang="zh-CN" sz="6400" b="1"/>
              <a:t>, x</a:t>
            </a:r>
            <a:r>
              <a:rPr lang="en-US" altLang="en-US" sz="6400" b="1"/>
              <a:t>ᵢᵢ</a:t>
            </a:r>
            <a:r>
              <a:rPr lang="en-US" altLang="zh-CN" sz="6400" b="1"/>
              <a:t>, x</a:t>
            </a:r>
            <a:r>
              <a:rPr lang="en-US" altLang="en-US" sz="6400" b="1"/>
              <a:t>ᵢⱼ</a:t>
            </a:r>
            <a:r>
              <a:rPr lang="en-US" altLang="zh-CN" sz="6400" b="1"/>
              <a:t>)</a:t>
            </a:r>
          </a:p>
          <a:p>
            <a:pPr marL="0" indent="0">
              <a:buNone/>
            </a:pPr>
            <a:r>
              <a:rPr lang="en-US" altLang="zh-CN" sz="6400"/>
              <a:t>Adaptive parameters in the CSR equation that represent system response characteristics. Unlike fixed regression coefficients, CSR coefficients depend on time and hidden variables, making them dynamic descriptors of system behavior.</a:t>
            </a:r>
          </a:p>
          <a:p>
            <a:pPr marL="0" indent="0">
              <a:buNone/>
            </a:pPr>
            <a:r>
              <a:rPr lang="en-US" altLang="zh-CN" sz="6400">
                <a:sym typeface="+mn-ea"/>
              </a:rPr>
              <a:t>x</a:t>
            </a:r>
            <a:r>
              <a:rPr lang="en-US" altLang="en-US" sz="6400">
                <a:sym typeface="+mn-ea"/>
              </a:rPr>
              <a:t>₀: </a:t>
            </a:r>
            <a:r>
              <a:rPr lang="en-US" altLang="zh-CN" sz="6400">
                <a:sym typeface="+mn-ea"/>
              </a:rPr>
              <a:t>Baseline response or intercept term, representing the system’s intrinsic state when all controllable parameters are zero</a:t>
            </a:r>
          </a:p>
          <a:p>
            <a:pPr marL="0" indent="0">
              <a:buNone/>
            </a:pPr>
            <a:r>
              <a:rPr lang="en-US" altLang="zh-CN" sz="6400">
                <a:sym typeface="+mn-ea"/>
              </a:rPr>
              <a:t>x</a:t>
            </a:r>
            <a:r>
              <a:rPr lang="en-US" altLang="en-US" sz="6400">
                <a:sym typeface="+mn-ea"/>
              </a:rPr>
              <a:t>ᵢ: </a:t>
            </a:r>
            <a:r>
              <a:rPr lang="en-US" altLang="zh-CN" sz="6400">
                <a:sym typeface="+mn-ea"/>
              </a:rPr>
              <a:t>First-order response coefficient showing the direct influence of parameter c</a:t>
            </a:r>
            <a:r>
              <a:rPr lang="en-US" altLang="en-US" sz="6400">
                <a:sym typeface="+mn-ea"/>
              </a:rPr>
              <a:t>ᵢ </a:t>
            </a:r>
            <a:r>
              <a:rPr lang="en-US" altLang="zh-CN" sz="6400">
                <a:sym typeface="+mn-ea"/>
              </a:rPr>
              <a:t>on the emergent property.</a:t>
            </a:r>
          </a:p>
          <a:p>
            <a:pPr marL="0" indent="0">
              <a:buNone/>
            </a:pPr>
            <a:r>
              <a:rPr lang="en-US" altLang="zh-CN" sz="6400">
                <a:sym typeface="+mn-ea"/>
              </a:rPr>
              <a:t>x</a:t>
            </a:r>
            <a:r>
              <a:rPr lang="en-US" altLang="en-US" sz="6400">
                <a:sym typeface="+mn-ea"/>
              </a:rPr>
              <a:t>ᵢᵢ: </a:t>
            </a:r>
            <a:r>
              <a:rPr lang="en-US" altLang="zh-CN" sz="6400">
                <a:sym typeface="+mn-ea"/>
              </a:rPr>
              <a:t>Second-order self-interaction term that captures nonlinearity of parameter c</a:t>
            </a:r>
            <a:r>
              <a:rPr lang="en-US" altLang="en-US" sz="6400">
                <a:sym typeface="+mn-ea"/>
              </a:rPr>
              <a:t>ᵢ</a:t>
            </a:r>
            <a:r>
              <a:rPr lang="en-US" altLang="zh-CN" sz="6400">
                <a:sym typeface="+mn-ea"/>
              </a:rPr>
              <a:t>’s individual effect</a:t>
            </a:r>
          </a:p>
          <a:p>
            <a:pPr marL="0" indent="0">
              <a:buNone/>
            </a:pPr>
            <a:r>
              <a:rPr lang="en-US" altLang="zh-CN" sz="6400">
                <a:sym typeface="+mn-ea"/>
              </a:rPr>
              <a:t>x</a:t>
            </a:r>
            <a:r>
              <a:rPr lang="en-US" altLang="en-US" sz="6400">
                <a:sym typeface="+mn-ea"/>
              </a:rPr>
              <a:t>ᵢⱼ: </a:t>
            </a:r>
            <a:r>
              <a:rPr lang="en-US" altLang="zh-CN" sz="6400">
                <a:sym typeface="+mn-ea"/>
              </a:rPr>
              <a:t>Cross-interaction coefficient quantifying the coupling effect between parameters c</a:t>
            </a:r>
            <a:r>
              <a:rPr lang="en-US" altLang="en-US" sz="6400">
                <a:sym typeface="+mn-ea"/>
              </a:rPr>
              <a:t>ᵢ</a:t>
            </a:r>
            <a:r>
              <a:rPr lang="en-US" altLang="zh-CN" sz="6400">
                <a:sym typeface="+mn-ea"/>
              </a:rPr>
              <a:t> and c</a:t>
            </a:r>
            <a:r>
              <a:rPr lang="en-US" altLang="en-US" sz="6400">
                <a:sym typeface="+mn-ea"/>
              </a:rPr>
              <a:t>ⱼ</a:t>
            </a:r>
            <a:endParaRPr lang="en-US" altLang="zh-CN" sz="6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sym typeface="+mn-ea"/>
              </a:rPr>
              <a:t>Terminology</a:t>
            </a:r>
            <a:endParaRPr lang="zh-CN" altLang="en-US"/>
          </a:p>
        </p:txBody>
      </p:sp>
      <p:sp>
        <p:nvSpPr>
          <p:cNvPr id="3" name="内容占位符 2"/>
          <p:cNvSpPr>
            <a:spLocks noGrp="1"/>
          </p:cNvSpPr>
          <p:nvPr>
            <p:ph idx="1"/>
          </p:nvPr>
        </p:nvSpPr>
        <p:spPr>
          <a:xfrm>
            <a:off x="838200" y="1691005"/>
            <a:ext cx="10515600" cy="4351338"/>
          </a:xfrm>
        </p:spPr>
        <p:txBody>
          <a:bodyPr>
            <a:normAutofit fontScale="25000"/>
          </a:bodyPr>
          <a:lstStyle/>
          <a:p>
            <a:pPr marL="0" indent="0">
              <a:buNone/>
            </a:pPr>
            <a:r>
              <a:rPr lang="en-US" altLang="zh-CN" sz="7200" b="1">
                <a:sym typeface="+mn-ea"/>
              </a:rPr>
              <a:t>5. Orthogonal Array Composite Design (OACD)</a:t>
            </a:r>
            <a:endParaRPr lang="en-US" altLang="zh-CN" sz="7200" b="1"/>
          </a:p>
          <a:p>
            <a:pPr marL="0" indent="0">
              <a:buNone/>
            </a:pPr>
            <a:r>
              <a:rPr lang="en-US" altLang="zh-CN" sz="7200">
                <a:sym typeface="+mn-ea"/>
              </a:rPr>
              <a:t>A design-of-experiments (DOE) method that determines the minimal number of calibration tests needed to estimate CSR coefficients.</a:t>
            </a:r>
            <a:endParaRPr lang="en-US" altLang="zh-CN" sz="7200"/>
          </a:p>
          <a:p>
            <a:pPr marL="0" indent="0">
              <a:buNone/>
            </a:pPr>
            <a:r>
              <a:rPr lang="en-US" altLang="zh-CN" sz="7200">
                <a:sym typeface="+mn-ea"/>
              </a:rPr>
              <a:t>For P parameters, only (P</a:t>
            </a:r>
            <a:r>
              <a:rPr lang="en-US" altLang="en-US" sz="7200">
                <a:sym typeface="+mn-ea"/>
              </a:rPr>
              <a:t>²</a:t>
            </a:r>
            <a:r>
              <a:rPr lang="en-US" altLang="zh-CN" sz="7200">
                <a:sym typeface="+mn-ea"/>
              </a:rPr>
              <a:t> + 3P + 2)/2 tests are required instead of exploring all possible combinations.</a:t>
            </a:r>
            <a:endParaRPr lang="en-US" altLang="zh-CN" sz="7200"/>
          </a:p>
          <a:p>
            <a:pPr marL="0" indent="0">
              <a:buNone/>
            </a:pPr>
            <a:r>
              <a:rPr lang="en-US" altLang="zh-CN" sz="7200" b="1">
                <a:sym typeface="+mn-ea"/>
              </a:rPr>
              <a:t>6. Calibration (Fitting) Process</a:t>
            </a:r>
            <a:endParaRPr lang="en-US" altLang="zh-CN" sz="7200" b="1"/>
          </a:p>
          <a:p>
            <a:pPr marL="0" indent="0">
              <a:buNone/>
            </a:pPr>
            <a:r>
              <a:rPr lang="en-US" altLang="zh-CN" sz="7200">
                <a:sym typeface="+mn-ea"/>
              </a:rPr>
              <a:t>The procedure of determining CSR coefficients by fitting experimental data to CSR equation.</a:t>
            </a:r>
          </a:p>
          <a:p>
            <a:pPr marL="0" indent="0">
              <a:buNone/>
            </a:pPr>
            <a:r>
              <a:rPr lang="en-US" altLang="zh-CN" sz="7200" b="1">
                <a:sym typeface="+mn-ea"/>
              </a:rPr>
              <a:t>7. Multiple objective optimization (MOO)</a:t>
            </a:r>
          </a:p>
          <a:p>
            <a:pPr marL="0" indent="0">
              <a:buNone/>
            </a:pPr>
            <a:r>
              <a:rPr lang="en-US" altLang="zh-CN" sz="7200"/>
              <a:t>When there are more then one outcomes that need to be optimized, a more advanced fitting process, multiple objective optimization, is applied. This optimization process makes sure that each outcome to be optimized is considered and gives a balanced result where each outcome is as optimized as possible.</a:t>
            </a:r>
          </a:p>
          <a:p>
            <a:pPr marL="0" indent="0">
              <a:buNone/>
            </a:pPr>
            <a:r>
              <a:rPr lang="en-US" altLang="zh-CN" sz="7200" b="1">
                <a:sym typeface="+mn-ea"/>
              </a:rPr>
              <a:t>8. Extremum (Global Optimum)</a:t>
            </a:r>
            <a:endParaRPr lang="en-US" altLang="zh-CN" sz="7200" b="1"/>
          </a:p>
          <a:p>
            <a:pPr marL="0" indent="0">
              <a:buNone/>
            </a:pPr>
            <a:r>
              <a:rPr lang="en-US" altLang="zh-CN" sz="7200">
                <a:sym typeface="+mn-ea"/>
              </a:rPr>
              <a:t>The maximum or minimum point on the CSR surface representing the best achievable system performance under given constraints.</a:t>
            </a:r>
            <a:endParaRPr lang="en-US" altLang="zh-CN" sz="7200"/>
          </a:p>
          <a:p>
            <a:pPr marL="0" indent="0">
              <a:buNone/>
            </a:pPr>
            <a:r>
              <a:rPr lang="en-US" altLang="zh-CN" sz="7200" b="1">
                <a:sym typeface="+mn-ea"/>
              </a:rPr>
              <a:t>9. Normalization</a:t>
            </a:r>
            <a:endParaRPr lang="en-US" altLang="zh-CN" sz="7200" b="1"/>
          </a:p>
          <a:p>
            <a:pPr marL="0" indent="0">
              <a:buNone/>
            </a:pPr>
            <a:r>
              <a:rPr lang="en-US" altLang="zh-CN" sz="7200">
                <a:sym typeface="+mn-ea"/>
              </a:rPr>
              <a:t>Normalize the parameter range to [-1, 1] or [0, 1]</a:t>
            </a:r>
            <a:endParaRPr lang="en-US" altLang="zh-CN" sz="7200"/>
          </a:p>
          <a:p>
            <a:endParaRPr lang="zh-CN" altLang="en-US" sz="7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4275" y="1517839"/>
            <a:ext cx="11753106" cy="3917950"/>
          </a:xfrm>
          <a:prstGeom prst="rect">
            <a:avLst/>
          </a:prstGeom>
          <a:noFill/>
        </p:spPr>
        <p:txBody>
          <a:bodyPr wrap="square" rtlCol="0">
            <a:spAutoFit/>
          </a:bodyPr>
          <a:lstStyle/>
          <a:p>
            <a:pPr algn="ctr"/>
            <a:r>
              <a:rPr lang="en-US" sz="2400" b="1" dirty="0"/>
              <a:t>CSR Equation</a:t>
            </a:r>
          </a:p>
          <a:p>
            <a:pPr algn="just">
              <a:tabLst>
                <a:tab pos="457200" algn="l"/>
              </a:tabLst>
            </a:pPr>
            <a:r>
              <a:rPr lang="en-US" sz="1600" dirty="0"/>
              <a:t>Optimization in multi-parameter space is challenging. The key roadblock is that N parameters with M levels for each parameter  form  a huge M</a:t>
            </a:r>
            <a:r>
              <a:rPr lang="en-US" sz="1600" baseline="30000" dirty="0"/>
              <a:t>N</a:t>
            </a:r>
            <a:r>
              <a:rPr lang="en-US" sz="1600" dirty="0"/>
              <a:t> search space. If trial-and-error approach is adapted,  it is a daunting task to search through the entire M</a:t>
            </a:r>
            <a:r>
              <a:rPr lang="en-US" sz="1600" baseline="30000" dirty="0"/>
              <a:t>N</a:t>
            </a:r>
            <a:r>
              <a:rPr lang="en-US" sz="1600" dirty="0"/>
              <a:t> space for the optimal parameter-level  combination. </a:t>
            </a:r>
          </a:p>
          <a:p>
            <a:pPr algn="just">
              <a:spcAft>
                <a:spcPts val="400"/>
              </a:spcAft>
              <a:tabLst>
                <a:tab pos="457200" algn="l"/>
              </a:tabLst>
            </a:pPr>
            <a:r>
              <a:rPr lang="en-US" sz="1600" dirty="0"/>
              <a:t>With an artificial neural networks analysis of a set of test data, the input-output response was found to be a smooth surface. The complex system response (CSR) surface can be represented by the CSR equation. </a:t>
            </a:r>
          </a:p>
          <a:p>
            <a:pPr algn="just">
              <a:spcAft>
                <a:spcPts val="400"/>
              </a:spcAft>
            </a:pPr>
            <a:endParaRPr lang="en-US" sz="1600" dirty="0"/>
          </a:p>
          <a:p>
            <a:pPr algn="just">
              <a:spcAft>
                <a:spcPts val="400"/>
              </a:spcAft>
            </a:pPr>
            <a:endParaRPr lang="en-US" sz="1600" dirty="0"/>
          </a:p>
          <a:p>
            <a:pPr algn="just">
              <a:spcAft>
                <a:spcPts val="400"/>
              </a:spcAft>
            </a:pPr>
            <a:r>
              <a:rPr lang="en-US" sz="1600" dirty="0"/>
              <a:t>                                                                                                                                                                                                                  ……………… Equation (1)</a:t>
            </a:r>
          </a:p>
          <a:p>
            <a:pPr algn="just">
              <a:spcAft>
                <a:spcPts val="400"/>
              </a:spcAft>
            </a:pPr>
            <a:endParaRPr lang="en-US" sz="1600" dirty="0"/>
          </a:p>
          <a:p>
            <a:pPr algn="just">
              <a:spcAft>
                <a:spcPts val="400"/>
              </a:spcAft>
              <a:tabLst>
                <a:tab pos="457200" algn="l"/>
              </a:tabLst>
            </a:pPr>
            <a:r>
              <a:rPr lang="en-US" altLang="zh-CN" sz="1600" kern="100" dirty="0">
                <a:ea typeface="宋体" panose="02010600030101010101" pitchFamily="2" charset="-122"/>
                <a:cs typeface="Calibri" panose="020F0502020204030204" charset="0"/>
              </a:rPr>
              <a:t>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are the levels,  E(c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t) is the outcome.  x</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ij</a:t>
            </a:r>
            <a:r>
              <a:rPr lang="en-US" altLang="zh-CN" sz="1600" kern="100" dirty="0">
                <a:ea typeface="宋体" panose="02010600030101010101" pitchFamily="2" charset="-122"/>
                <a:cs typeface="Calibri" panose="020F0502020204030204" charset="0"/>
              </a:rPr>
              <a:t>, are coefficients to be determined by experiments. These coefficients are functions of the independent variables, i.e. time and 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and hence are not constants.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are the undefined or unknown parameters. By definition, Function-1 is not a mathematical equation. The number of coefficients is [1+P+P+P(P−1)/2 = [(P</a:t>
            </a:r>
            <a:r>
              <a:rPr lang="en-US" altLang="zh-CN" sz="1600" kern="100" baseline="30000" dirty="0">
                <a:ea typeface="宋体" panose="02010600030101010101" pitchFamily="2" charset="-122"/>
                <a:cs typeface="Calibri" panose="020F0502020204030204" charset="0"/>
              </a:rPr>
              <a:t>2</a:t>
            </a:r>
            <a:r>
              <a:rPr lang="en-US" altLang="zh-CN" sz="1600" kern="100" dirty="0">
                <a:ea typeface="宋体" panose="02010600030101010101" pitchFamily="2" charset="-122"/>
                <a:cs typeface="Calibri" panose="020F0502020204030204" charset="0"/>
              </a:rPr>
              <a:t>+3P+2)/2]. Hence, only  small number of calibration tests , [(P</a:t>
            </a:r>
            <a:r>
              <a:rPr lang="en-US" altLang="zh-CN" sz="1600" kern="100" baseline="30000" dirty="0">
                <a:ea typeface="宋体" panose="02010600030101010101" pitchFamily="2" charset="-122"/>
                <a:cs typeface="Calibri" panose="020F0502020204030204" charset="0"/>
              </a:rPr>
              <a:t>2</a:t>
            </a:r>
            <a:r>
              <a:rPr lang="en-US" altLang="zh-CN" sz="1600" kern="100" dirty="0">
                <a:ea typeface="宋体" panose="02010600030101010101" pitchFamily="2" charset="-122"/>
                <a:cs typeface="Calibri" panose="020F0502020204030204" charset="0"/>
              </a:rPr>
              <a:t>+3P+2)/2], can find the optimal output instead of searching in a large L</a:t>
            </a:r>
            <a:r>
              <a:rPr lang="en-US" altLang="zh-CN" sz="1600" kern="100" baseline="30000" dirty="0">
                <a:ea typeface="宋体" panose="02010600030101010101" pitchFamily="2" charset="-122"/>
                <a:cs typeface="Calibri" panose="020F0502020204030204" charset="0"/>
              </a:rPr>
              <a:t>P</a:t>
            </a:r>
            <a:r>
              <a:rPr lang="en-US" altLang="zh-CN" sz="1600" kern="100" dirty="0">
                <a:ea typeface="宋体" panose="02010600030101010101" pitchFamily="2" charset="-122"/>
                <a:cs typeface="Calibri" panose="020F0502020204030204" charset="0"/>
              </a:rPr>
              <a:t> space. </a:t>
            </a:r>
          </a:p>
        </p:txBody>
      </p:sp>
      <p:sp>
        <p:nvSpPr>
          <p:cNvPr id="18" name="TextBox 17"/>
          <p:cNvSpPr txBox="1"/>
          <p:nvPr/>
        </p:nvSpPr>
        <p:spPr>
          <a:xfrm>
            <a:off x="8025918" y="2110488"/>
            <a:ext cx="184731" cy="369332"/>
          </a:xfrm>
          <a:prstGeom prst="rect">
            <a:avLst/>
          </a:prstGeom>
          <a:noFill/>
        </p:spPr>
        <p:txBody>
          <a:bodyPr wrap="none" rtlCol="0">
            <a:spAutoFit/>
          </a:bodyPr>
          <a:lstStyle/>
          <a:p>
            <a:endParaRPr lang="en-US" dirty="0"/>
          </a:p>
        </p:txBody>
      </p:sp>
      <p:sp>
        <p:nvSpPr>
          <p:cNvPr id="3" name="Title 2"/>
          <p:cNvSpPr>
            <a:spLocks noGrp="1"/>
          </p:cNvSpPr>
          <p:nvPr>
            <p:ph type="title"/>
          </p:nvPr>
        </p:nvSpPr>
        <p:spPr/>
        <p:txBody>
          <a:bodyPr/>
          <a:lstStyle/>
          <a:p>
            <a:r>
              <a:rPr lang="en-US"/>
              <a:t>Introduction to CSR Equation</a:t>
            </a:r>
          </a:p>
        </p:txBody>
      </p:sp>
      <p:pic>
        <p:nvPicPr>
          <p:cNvPr id="5" name="图片 4"/>
          <p:cNvPicPr>
            <a:picLocks noChangeAspect="1"/>
          </p:cNvPicPr>
          <p:nvPr/>
        </p:nvPicPr>
        <p:blipFill>
          <a:blip r:embed="rId3"/>
          <a:stretch>
            <a:fillRect/>
          </a:stretch>
        </p:blipFill>
        <p:spPr>
          <a:xfrm>
            <a:off x="549910" y="3300730"/>
            <a:ext cx="9133205" cy="9664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sym typeface="+mn-ea"/>
              </a:rPr>
              <a:t>Introduction to CSR Equation</a:t>
            </a:r>
            <a:endParaRPr lang="zh-CN" altLang="en-US"/>
          </a:p>
        </p:txBody>
      </p:sp>
      <p:sp>
        <p:nvSpPr>
          <p:cNvPr id="3" name="内容占位符 2"/>
          <p:cNvSpPr>
            <a:spLocks noGrp="1"/>
          </p:cNvSpPr>
          <p:nvPr>
            <p:ph idx="1"/>
          </p:nvPr>
        </p:nvSpPr>
        <p:spPr/>
        <p:txBody>
          <a:bodyPr/>
          <a:lstStyle/>
          <a:p>
            <a:pPr marL="0" indent="0">
              <a:buNone/>
            </a:pPr>
            <a:r>
              <a:rPr lang="en-US" altLang="zh-CN" sz="2000"/>
              <a:t>The CSR equation is the transfer function between input and output. C</a:t>
            </a:r>
            <a:r>
              <a:rPr lang="en-US" altLang="zh-CN" sz="2000" baseline="-25000"/>
              <a:t>i</a:t>
            </a:r>
            <a:r>
              <a:rPr lang="en-US" altLang="zh-CN" sz="2000"/>
              <a:t> is the level of a parameter and is an independent variable.  Coefficients of the CSR equation contain the information of the system response to the parameters and the levels. The coefficients are unknowns. For P parameters, there are [(P</a:t>
            </a:r>
            <a:r>
              <a:rPr lang="en-US" altLang="zh-CN" sz="2000" baseline="30000"/>
              <a:t>2</a:t>
            </a:r>
            <a:r>
              <a:rPr lang="en-US" altLang="zh-CN" sz="2000"/>
              <a:t>+3P+2)/2] coefficients (Table 1).  	</a:t>
            </a:r>
          </a:p>
          <a:p>
            <a:pPr marL="0" indent="0">
              <a:buNone/>
            </a:pPr>
            <a:r>
              <a:rPr lang="en-US" altLang="zh-CN" sz="2000"/>
              <a:t>The (P</a:t>
            </a:r>
            <a:r>
              <a:rPr lang="en-US" altLang="zh-CN" sz="2000" baseline="30000"/>
              <a:t>2</a:t>
            </a:r>
            <a:r>
              <a:rPr lang="en-US" altLang="zh-CN" sz="2000"/>
              <a:t>+3P+2)/2 tests can save order of magnitude orders of efforts, time and cost than searching through the entire N</a:t>
            </a:r>
            <a:r>
              <a:rPr lang="en-US" altLang="zh-CN" sz="2000" baseline="30000"/>
              <a:t>M</a:t>
            </a:r>
            <a:r>
              <a:rPr lang="en-US" altLang="zh-CN" sz="2000"/>
              <a:t> space.  </a:t>
            </a:r>
          </a:p>
        </p:txBody>
      </p:sp>
      <p:graphicFrame>
        <p:nvGraphicFramePr>
          <p:cNvPr id="4" name="Table 1"/>
          <p:cNvGraphicFramePr>
            <a:graphicFrameLocks noGrp="1"/>
          </p:cNvGraphicFramePr>
          <p:nvPr/>
        </p:nvGraphicFramePr>
        <p:xfrm>
          <a:off x="3221829" y="4614516"/>
          <a:ext cx="5411052" cy="2011680"/>
        </p:xfrm>
        <a:graphic>
          <a:graphicData uri="http://schemas.openxmlformats.org/drawingml/2006/table">
            <a:tbl>
              <a:tblPr firstRow="1" bandRow="1">
                <a:tableStyleId>{5940675A-B579-460E-94D1-54222C63F5DA}</a:tableStyleId>
              </a:tblPr>
              <a:tblGrid>
                <a:gridCol w="1803684">
                  <a:extLst>
                    <a:ext uri="{9D8B030D-6E8A-4147-A177-3AD203B41FA5}">
                      <a16:colId xmlns:a16="http://schemas.microsoft.com/office/drawing/2014/main" val="20000"/>
                    </a:ext>
                  </a:extLst>
                </a:gridCol>
                <a:gridCol w="1803684">
                  <a:extLst>
                    <a:ext uri="{9D8B030D-6E8A-4147-A177-3AD203B41FA5}">
                      <a16:colId xmlns:a16="http://schemas.microsoft.com/office/drawing/2014/main" val="20001"/>
                    </a:ext>
                  </a:extLst>
                </a:gridCol>
                <a:gridCol w="1803684">
                  <a:extLst>
                    <a:ext uri="{9D8B030D-6E8A-4147-A177-3AD203B41FA5}">
                      <a16:colId xmlns:a16="http://schemas.microsoft.com/office/drawing/2014/main" val="20002"/>
                    </a:ext>
                  </a:extLst>
                </a:gridCol>
              </a:tblGrid>
              <a:tr h="123829">
                <a:tc>
                  <a:txBody>
                    <a:bodyPr/>
                    <a:lstStyle/>
                    <a:p>
                      <a:pPr algn="ctr"/>
                      <a:r>
                        <a:rPr lang="en-US" sz="1050" dirty="0"/>
                        <a:t>No. of Parameters</a:t>
                      </a:r>
                    </a:p>
                  </a:txBody>
                  <a:tcPr/>
                </a:tc>
                <a:tc>
                  <a:txBody>
                    <a:bodyPr/>
                    <a:lstStyle/>
                    <a:p>
                      <a:pPr algn="ctr"/>
                      <a:r>
                        <a:rPr lang="en-US" sz="1050" kern="100" dirty="0">
                          <a:ea typeface="宋体" panose="02010600030101010101" pitchFamily="2" charset="-122"/>
                          <a:cs typeface="Calibri" panose="020F0502020204030204" charset="0"/>
                        </a:rPr>
                        <a:t>(N</a:t>
                      </a:r>
                      <a:r>
                        <a:rPr lang="en-US" sz="1050" kern="100" baseline="30000" dirty="0">
                          <a:ea typeface="宋体" panose="02010600030101010101" pitchFamily="2" charset="-122"/>
                          <a:cs typeface="Calibri" panose="020F0502020204030204" charset="0"/>
                        </a:rPr>
                        <a:t>2</a:t>
                      </a:r>
                      <a:r>
                        <a:rPr lang="en-US" sz="1050" kern="100" dirty="0">
                          <a:ea typeface="宋体" panose="02010600030101010101" pitchFamily="2" charset="-122"/>
                          <a:cs typeface="Calibri" panose="020F0502020204030204" charset="0"/>
                        </a:rPr>
                        <a:t>+3N+2)/2</a:t>
                      </a:r>
                      <a:endParaRPr lang="en-US" sz="1050" dirty="0"/>
                    </a:p>
                  </a:txBody>
                  <a:tcPr/>
                </a:tc>
                <a:tc>
                  <a:txBody>
                    <a:bodyPr/>
                    <a:lstStyle/>
                    <a:p>
                      <a:pPr algn="ctr"/>
                      <a:r>
                        <a:rPr lang="en-US" sz="1050" dirty="0"/>
                        <a:t>M</a:t>
                      </a:r>
                      <a:r>
                        <a:rPr lang="en-US" sz="1050" baseline="30000" dirty="0"/>
                        <a:t>N</a:t>
                      </a:r>
                      <a:r>
                        <a:rPr lang="en-US" sz="1050" dirty="0"/>
                        <a:t> (M=10)</a:t>
                      </a:r>
                    </a:p>
                  </a:txBody>
                  <a:tcPr/>
                </a:tc>
                <a:extLst>
                  <a:ext uri="{0D108BD9-81ED-4DB2-BD59-A6C34878D82A}">
                    <a16:rowId xmlns:a16="http://schemas.microsoft.com/office/drawing/2014/main" val="10000"/>
                  </a:ext>
                </a:extLst>
              </a:tr>
              <a:tr h="123829">
                <a:tc>
                  <a:txBody>
                    <a:bodyPr/>
                    <a:lstStyle/>
                    <a:p>
                      <a:pPr algn="ctr"/>
                      <a:r>
                        <a:rPr lang="en-US" sz="1050" dirty="0"/>
                        <a:t>1</a:t>
                      </a:r>
                    </a:p>
                  </a:txBody>
                  <a:tcPr/>
                </a:tc>
                <a:tc>
                  <a:txBody>
                    <a:bodyPr/>
                    <a:lstStyle/>
                    <a:p>
                      <a:pPr algn="ctr"/>
                      <a:r>
                        <a:rPr lang="en-US" sz="1050" dirty="0"/>
                        <a:t>3</a:t>
                      </a:r>
                    </a:p>
                  </a:txBody>
                  <a:tcPr/>
                </a:tc>
                <a:tc>
                  <a:txBody>
                    <a:bodyPr/>
                    <a:lstStyle/>
                    <a:p>
                      <a:pPr algn="ctr"/>
                      <a:r>
                        <a:rPr lang="en-US" sz="1050" dirty="0"/>
                        <a:t>10</a:t>
                      </a:r>
                    </a:p>
                  </a:txBody>
                  <a:tcPr/>
                </a:tc>
                <a:extLst>
                  <a:ext uri="{0D108BD9-81ED-4DB2-BD59-A6C34878D82A}">
                    <a16:rowId xmlns:a16="http://schemas.microsoft.com/office/drawing/2014/main" val="10001"/>
                  </a:ext>
                </a:extLst>
              </a:tr>
              <a:tr h="123829">
                <a:tc>
                  <a:txBody>
                    <a:bodyPr/>
                    <a:lstStyle/>
                    <a:p>
                      <a:pPr algn="ctr"/>
                      <a:r>
                        <a:rPr lang="en-US" sz="1050" dirty="0"/>
                        <a:t>2</a:t>
                      </a:r>
                    </a:p>
                  </a:txBody>
                  <a:tcPr/>
                </a:tc>
                <a:tc>
                  <a:txBody>
                    <a:bodyPr/>
                    <a:lstStyle/>
                    <a:p>
                      <a:pPr algn="ctr"/>
                      <a:r>
                        <a:rPr lang="en-US" sz="1050" dirty="0"/>
                        <a:t>6</a:t>
                      </a:r>
                    </a:p>
                  </a:txBody>
                  <a:tcPr/>
                </a:tc>
                <a:tc>
                  <a:txBody>
                    <a:bodyPr/>
                    <a:lstStyle/>
                    <a:p>
                      <a:pPr algn="ctr"/>
                      <a:r>
                        <a:rPr lang="en-US" sz="1050" dirty="0"/>
                        <a:t>10</a:t>
                      </a:r>
                      <a:r>
                        <a:rPr lang="en-US" sz="1050" baseline="30000" dirty="0"/>
                        <a:t>2</a:t>
                      </a:r>
                    </a:p>
                  </a:txBody>
                  <a:tcPr/>
                </a:tc>
                <a:extLst>
                  <a:ext uri="{0D108BD9-81ED-4DB2-BD59-A6C34878D82A}">
                    <a16:rowId xmlns:a16="http://schemas.microsoft.com/office/drawing/2014/main" val="10002"/>
                  </a:ext>
                </a:extLst>
              </a:tr>
              <a:tr h="123829">
                <a:tc>
                  <a:txBody>
                    <a:bodyPr/>
                    <a:lstStyle/>
                    <a:p>
                      <a:pPr algn="ctr"/>
                      <a:r>
                        <a:rPr lang="en-US" sz="1050" dirty="0"/>
                        <a:t>3</a:t>
                      </a:r>
                    </a:p>
                  </a:txBody>
                  <a:tcPr/>
                </a:tc>
                <a:tc>
                  <a:txBody>
                    <a:bodyPr/>
                    <a:lstStyle/>
                    <a:p>
                      <a:pPr algn="ctr"/>
                      <a:r>
                        <a:rPr lang="en-US" sz="1050" dirty="0"/>
                        <a:t>10</a:t>
                      </a:r>
                    </a:p>
                  </a:txBody>
                  <a:tcPr/>
                </a:tc>
                <a:tc>
                  <a:txBody>
                    <a:bodyPr/>
                    <a:lstStyle/>
                    <a:p>
                      <a:pPr algn="ctr"/>
                      <a:r>
                        <a:rPr lang="en-US" sz="1050" dirty="0"/>
                        <a:t>10</a:t>
                      </a:r>
                      <a:r>
                        <a:rPr lang="en-US" sz="1050" baseline="30000" dirty="0"/>
                        <a:t>3</a:t>
                      </a:r>
                    </a:p>
                  </a:txBody>
                  <a:tcPr/>
                </a:tc>
                <a:extLst>
                  <a:ext uri="{0D108BD9-81ED-4DB2-BD59-A6C34878D82A}">
                    <a16:rowId xmlns:a16="http://schemas.microsoft.com/office/drawing/2014/main" val="10003"/>
                  </a:ext>
                </a:extLst>
              </a:tr>
              <a:tr h="123829">
                <a:tc>
                  <a:txBody>
                    <a:bodyPr/>
                    <a:lstStyle/>
                    <a:p>
                      <a:pPr algn="ctr"/>
                      <a:r>
                        <a:rPr lang="en-US" sz="1050" dirty="0"/>
                        <a:t>4</a:t>
                      </a:r>
                    </a:p>
                  </a:txBody>
                  <a:tcPr/>
                </a:tc>
                <a:tc>
                  <a:txBody>
                    <a:bodyPr/>
                    <a:lstStyle/>
                    <a:p>
                      <a:pPr algn="ctr"/>
                      <a:r>
                        <a:rPr lang="en-US" sz="1050" dirty="0"/>
                        <a:t>15</a:t>
                      </a:r>
                    </a:p>
                  </a:txBody>
                  <a:tcPr/>
                </a:tc>
                <a:tc>
                  <a:txBody>
                    <a:bodyPr/>
                    <a:lstStyle/>
                    <a:p>
                      <a:pPr algn="ctr"/>
                      <a:r>
                        <a:rPr lang="en-US" sz="1050" dirty="0"/>
                        <a:t>10</a:t>
                      </a:r>
                      <a:r>
                        <a:rPr lang="en-US" sz="1050" baseline="30000" dirty="0"/>
                        <a:t>4</a:t>
                      </a:r>
                    </a:p>
                  </a:txBody>
                  <a:tcPr/>
                </a:tc>
                <a:extLst>
                  <a:ext uri="{0D108BD9-81ED-4DB2-BD59-A6C34878D82A}">
                    <a16:rowId xmlns:a16="http://schemas.microsoft.com/office/drawing/2014/main" val="10004"/>
                  </a:ext>
                </a:extLst>
              </a:tr>
              <a:tr h="123829">
                <a:tc>
                  <a:txBody>
                    <a:bodyPr/>
                    <a:lstStyle/>
                    <a:p>
                      <a:pPr algn="ctr"/>
                      <a:r>
                        <a:rPr lang="en-US" sz="1050" dirty="0"/>
                        <a:t>5</a:t>
                      </a:r>
                    </a:p>
                  </a:txBody>
                  <a:tcPr/>
                </a:tc>
                <a:tc>
                  <a:txBody>
                    <a:bodyPr/>
                    <a:lstStyle/>
                    <a:p>
                      <a:pPr algn="ctr"/>
                      <a:r>
                        <a:rPr lang="en-US" sz="1050" dirty="0"/>
                        <a:t>21</a:t>
                      </a:r>
                    </a:p>
                  </a:txBody>
                  <a:tcPr/>
                </a:tc>
                <a:tc>
                  <a:txBody>
                    <a:bodyPr/>
                    <a:lstStyle/>
                    <a:p>
                      <a:pPr algn="ctr"/>
                      <a:r>
                        <a:rPr lang="en-US" sz="1050" dirty="0"/>
                        <a:t>10</a:t>
                      </a:r>
                      <a:r>
                        <a:rPr lang="en-US" sz="1050" baseline="30000" dirty="0"/>
                        <a:t>5</a:t>
                      </a:r>
                    </a:p>
                  </a:txBody>
                  <a:tcPr/>
                </a:tc>
                <a:extLst>
                  <a:ext uri="{0D108BD9-81ED-4DB2-BD59-A6C34878D82A}">
                    <a16:rowId xmlns:a16="http://schemas.microsoft.com/office/drawing/2014/main" val="10005"/>
                  </a:ext>
                </a:extLst>
              </a:tr>
              <a:tr h="123829">
                <a:tc>
                  <a:txBody>
                    <a:bodyPr/>
                    <a:lstStyle/>
                    <a:p>
                      <a:pPr algn="ctr"/>
                      <a:r>
                        <a:rPr lang="en-US" sz="1050" dirty="0"/>
                        <a:t>6</a:t>
                      </a:r>
                    </a:p>
                  </a:txBody>
                  <a:tcPr/>
                </a:tc>
                <a:tc>
                  <a:txBody>
                    <a:bodyPr/>
                    <a:lstStyle/>
                    <a:p>
                      <a:pPr algn="ctr"/>
                      <a:r>
                        <a:rPr lang="en-US" sz="1050" dirty="0"/>
                        <a:t>28</a:t>
                      </a:r>
                    </a:p>
                  </a:txBody>
                  <a:tcPr/>
                </a:tc>
                <a:tc>
                  <a:txBody>
                    <a:bodyPr/>
                    <a:lstStyle/>
                    <a:p>
                      <a:pPr algn="ctr"/>
                      <a:r>
                        <a:rPr lang="en-US" sz="1050" dirty="0"/>
                        <a:t>10</a:t>
                      </a:r>
                      <a:r>
                        <a:rPr lang="en-US" sz="1050" baseline="30000" dirty="0"/>
                        <a:t>6</a:t>
                      </a:r>
                    </a:p>
                  </a:txBody>
                  <a:tcPr/>
                </a:tc>
                <a:extLst>
                  <a:ext uri="{0D108BD9-81ED-4DB2-BD59-A6C34878D82A}">
                    <a16:rowId xmlns:a16="http://schemas.microsoft.com/office/drawing/2014/main" val="10006"/>
                  </a:ext>
                </a:extLst>
              </a:tr>
              <a:tr h="123829">
                <a:tc>
                  <a:txBody>
                    <a:bodyPr/>
                    <a:lstStyle/>
                    <a:p>
                      <a:pPr algn="ctr"/>
                      <a:r>
                        <a:rPr lang="en-US" sz="1050" dirty="0"/>
                        <a:t>12</a:t>
                      </a:r>
                    </a:p>
                  </a:txBody>
                  <a:tcPr/>
                </a:tc>
                <a:tc>
                  <a:txBody>
                    <a:bodyPr/>
                    <a:lstStyle/>
                    <a:p>
                      <a:pPr algn="ctr"/>
                      <a:r>
                        <a:rPr lang="en-US" sz="1050" dirty="0"/>
                        <a:t>91</a:t>
                      </a:r>
                    </a:p>
                  </a:txBody>
                  <a:tcPr/>
                </a:tc>
                <a:tc>
                  <a:txBody>
                    <a:bodyPr/>
                    <a:lstStyle/>
                    <a:p>
                      <a:pPr algn="ctr"/>
                      <a:r>
                        <a:rPr lang="en-US" sz="1050" dirty="0"/>
                        <a:t>10</a:t>
                      </a:r>
                      <a:r>
                        <a:rPr lang="en-US" sz="1050" baseline="30000" dirty="0"/>
                        <a:t>12</a:t>
                      </a:r>
                    </a:p>
                  </a:txBody>
                  <a:tcPr/>
                </a:tc>
                <a:extLst>
                  <a:ext uri="{0D108BD9-81ED-4DB2-BD59-A6C34878D82A}">
                    <a16:rowId xmlns:a16="http://schemas.microsoft.com/office/drawing/2014/main" val="10007"/>
                  </a:ext>
                </a:extLst>
              </a:tr>
            </a:tbl>
          </a:graphicData>
        </a:graphic>
      </p:graphicFrame>
      <p:sp>
        <p:nvSpPr>
          <p:cNvPr id="6" name="TextBox 5"/>
          <p:cNvSpPr txBox="1"/>
          <p:nvPr/>
        </p:nvSpPr>
        <p:spPr>
          <a:xfrm>
            <a:off x="4273028" y="4117688"/>
            <a:ext cx="3308466" cy="369332"/>
          </a:xfrm>
          <a:prstGeom prst="rect">
            <a:avLst/>
          </a:prstGeom>
          <a:noFill/>
        </p:spPr>
        <p:txBody>
          <a:bodyPr wrap="square" rtlCol="0">
            <a:spAutoFit/>
          </a:bodyPr>
          <a:lstStyle/>
          <a:p>
            <a:r>
              <a:rPr lang="en-US" dirty="0"/>
              <a:t>Table 1:   The number of tests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Flow chart</a:t>
            </a:r>
          </a:p>
        </p:txBody>
      </p:sp>
      <p:sp>
        <p:nvSpPr>
          <p:cNvPr id="4" name="Rectangles 3"/>
          <p:cNvSpPr/>
          <p:nvPr/>
        </p:nvSpPr>
        <p:spPr>
          <a:xfrm>
            <a:off x="34417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b="1"/>
              <a:t>Load data</a:t>
            </a:r>
          </a:p>
        </p:txBody>
      </p:sp>
      <p:sp>
        <p:nvSpPr>
          <p:cNvPr id="5" name="Rectangles 4"/>
          <p:cNvSpPr/>
          <p:nvPr>
            <p:custDataLst>
              <p:tags r:id="rId1"/>
            </p:custDataLst>
          </p:nvPr>
        </p:nvSpPr>
        <p:spPr>
          <a:xfrm>
            <a:off x="2713355"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b="1">
                <a:sym typeface="+mn-ea"/>
              </a:rPr>
              <a:t>Configure settings</a:t>
            </a:r>
            <a:endParaRPr lang="en-US" b="1"/>
          </a:p>
        </p:txBody>
      </p:sp>
      <p:sp>
        <p:nvSpPr>
          <p:cNvPr id="6" name="Rectangles 5"/>
          <p:cNvSpPr/>
          <p:nvPr>
            <p:custDataLst>
              <p:tags r:id="rId2"/>
            </p:custDataLst>
          </p:nvPr>
        </p:nvSpPr>
        <p:spPr>
          <a:xfrm>
            <a:off x="7451725"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altLang="en-US" b="1"/>
              <a:t>Output</a:t>
            </a:r>
          </a:p>
        </p:txBody>
      </p:sp>
      <p:cxnSp>
        <p:nvCxnSpPr>
          <p:cNvPr id="8" name="Straight Arrow Connector 7"/>
          <p:cNvCxnSpPr>
            <a:stCxn id="4" idx="3"/>
            <a:endCxn id="5" idx="1"/>
          </p:cNvCxnSpPr>
          <p:nvPr>
            <p:custDataLst>
              <p:tags r:id="rId3"/>
            </p:custDataLst>
          </p:nvPr>
        </p:nvCxnSpPr>
        <p:spPr>
          <a:xfrm>
            <a:off x="2096135"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1" name="Text Box 10"/>
          <p:cNvSpPr txBox="1"/>
          <p:nvPr>
            <p:custDataLst>
              <p:tags r:id="rId4"/>
            </p:custDataLst>
          </p:nvPr>
        </p:nvSpPr>
        <p:spPr>
          <a:xfrm>
            <a:off x="2309495" y="3956050"/>
            <a:ext cx="3035300" cy="829945"/>
          </a:xfrm>
          <a:prstGeom prst="rect">
            <a:avLst/>
          </a:prstGeom>
          <a:noFill/>
        </p:spPr>
        <p:txBody>
          <a:bodyPr wrap="square" rtlCol="0" anchor="t">
            <a:spAutoFit/>
          </a:bodyPr>
          <a:lstStyle/>
          <a:p>
            <a:pPr marL="285750" indent="-285750">
              <a:buFont typeface="Arial" panose="020B0604020202020204" pitchFamily="34" charset="0"/>
              <a:buChar char="•"/>
            </a:pPr>
            <a:r>
              <a:rPr lang="en-US" sz="1600" b="1">
                <a:sym typeface="+mn-ea"/>
              </a:rPr>
              <a:t>Extremum Objective</a:t>
            </a:r>
          </a:p>
          <a:p>
            <a:pPr marL="285750" indent="-285750">
              <a:buFont typeface="Arial" panose="020B0604020202020204" pitchFamily="34" charset="0"/>
              <a:buChar char="•"/>
            </a:pPr>
            <a:r>
              <a:rPr lang="en-US" sz="1600" b="1">
                <a:sym typeface="+mn-ea"/>
              </a:rPr>
              <a:t>Normalization</a:t>
            </a:r>
          </a:p>
          <a:p>
            <a:pPr marL="285750" indent="-285750">
              <a:buFont typeface="Arial" panose="020B0604020202020204" pitchFamily="34" charset="0"/>
              <a:buChar char="•"/>
            </a:pPr>
            <a:r>
              <a:rPr lang="en-US" sz="1600" b="1">
                <a:sym typeface="+mn-ea"/>
              </a:rPr>
              <a:t>Set parameter </a:t>
            </a:r>
          </a:p>
        </p:txBody>
      </p:sp>
      <p:sp>
        <p:nvSpPr>
          <p:cNvPr id="12" name="Rectangles 11"/>
          <p:cNvSpPr/>
          <p:nvPr>
            <p:custDataLst>
              <p:tags r:id="rId5"/>
            </p:custDataLst>
          </p:nvPr>
        </p:nvSpPr>
        <p:spPr>
          <a:xfrm>
            <a:off x="508254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sz="1400" b="1">
                <a:sym typeface="+mn-ea"/>
              </a:rPr>
              <a:t>Data processing</a:t>
            </a:r>
          </a:p>
          <a:p>
            <a:pPr algn="ctr"/>
            <a:r>
              <a:rPr lang="en-US" sz="1400" b="1"/>
              <a:t>based on CSR equation</a:t>
            </a:r>
          </a:p>
        </p:txBody>
      </p:sp>
      <p:cxnSp>
        <p:nvCxnSpPr>
          <p:cNvPr id="13" name="Straight Arrow Connector 12"/>
          <p:cNvCxnSpPr>
            <a:endCxn id="12" idx="1"/>
          </p:cNvCxnSpPr>
          <p:nvPr>
            <p:custDataLst>
              <p:tags r:id="rId6"/>
            </p:custDataLst>
          </p:nvPr>
        </p:nvCxnSpPr>
        <p:spPr>
          <a:xfrm>
            <a:off x="4465320"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4" name="Straight Arrow Connector 13"/>
          <p:cNvCxnSpPr/>
          <p:nvPr>
            <p:custDataLst>
              <p:tags r:id="rId7"/>
            </p:custDataLst>
          </p:nvPr>
        </p:nvCxnSpPr>
        <p:spPr>
          <a:xfrm>
            <a:off x="6834505"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5" name="Text Box 14"/>
          <p:cNvSpPr txBox="1"/>
          <p:nvPr>
            <p:custDataLst>
              <p:tags r:id="rId8"/>
            </p:custDataLst>
          </p:nvPr>
        </p:nvSpPr>
        <p:spPr>
          <a:xfrm>
            <a:off x="6785610" y="3956050"/>
            <a:ext cx="3902075" cy="2061210"/>
          </a:xfrm>
          <a:prstGeom prst="rect">
            <a:avLst/>
          </a:prstGeom>
          <a:noFill/>
        </p:spPr>
        <p:txBody>
          <a:bodyPr wrap="square" rtlCol="0" anchor="t">
            <a:spAutoFit/>
          </a:bodyPr>
          <a:lstStyle/>
          <a:p>
            <a:pPr marL="285750" indent="-285750">
              <a:buFont typeface="Arial" panose="020B0604020202020204" pitchFamily="34" charset="0"/>
              <a:buChar char="•"/>
            </a:pPr>
            <a:r>
              <a:rPr lang="en-US" altLang="en-US" sz="1600" b="1">
                <a:sym typeface="+mn-ea"/>
              </a:rPr>
              <a:t>CSR Equation</a:t>
            </a:r>
            <a:endParaRPr lang="en-US" sz="1600" b="1">
              <a:sym typeface="+mn-ea"/>
            </a:endParaRPr>
          </a:p>
          <a:p>
            <a:pPr marL="285750" indent="-285750">
              <a:buFont typeface="Arial" panose="020B0604020202020204" pitchFamily="34" charset="0"/>
              <a:buChar char="•"/>
            </a:pPr>
            <a:r>
              <a:rPr lang="en-US" altLang="en-US" sz="1600" b="1">
                <a:sym typeface="+mn-ea"/>
              </a:rPr>
              <a:t>CSR Response Surface Plot</a:t>
            </a:r>
          </a:p>
          <a:p>
            <a:pPr marL="285750" indent="-285750">
              <a:buFont typeface="Arial" panose="020B0604020202020204" pitchFamily="34" charset="0"/>
              <a:buChar char="•"/>
            </a:pPr>
            <a:r>
              <a:rPr lang="en-US" altLang="en-US" sz="1600" b="1">
                <a:sym typeface="+mn-ea"/>
              </a:rPr>
              <a:t>Extremum</a:t>
            </a:r>
          </a:p>
          <a:p>
            <a:pPr marL="285750" indent="-285750">
              <a:buFont typeface="Arial" panose="020B0604020202020204" pitchFamily="34" charset="0"/>
              <a:buChar char="•"/>
            </a:pPr>
            <a:r>
              <a:rPr lang="en-US" altLang="en-US" sz="1600" b="1">
                <a:sym typeface="+mn-ea"/>
              </a:rPr>
              <a:t>Actual vs. Predicted Values</a:t>
            </a:r>
          </a:p>
          <a:p>
            <a:pPr marL="285750" indent="-285750">
              <a:buFont typeface="Arial" panose="020B0604020202020204" pitchFamily="34" charset="0"/>
              <a:buChar char="•"/>
            </a:pPr>
            <a:r>
              <a:rPr lang="en-US" sz="1600" b="1">
                <a:sym typeface="+mn-ea"/>
              </a:rPr>
              <a:t>R-square, mean squared error</a:t>
            </a:r>
          </a:p>
          <a:p>
            <a:pPr marL="285750" indent="-285750">
              <a:buFont typeface="Arial" panose="020B0604020202020204" pitchFamily="34" charset="0"/>
              <a:buChar char="•"/>
            </a:pPr>
            <a:r>
              <a:rPr lang="en-US" altLang="en-US" sz="1600" b="1">
                <a:sym typeface="+mn-ea"/>
              </a:rPr>
              <a:t>Pie chart analysis of </a:t>
            </a:r>
            <a:r>
              <a:rPr lang="en-US" sz="1600">
                <a:sym typeface="+mn-ea"/>
              </a:rPr>
              <a:t>distribution of the CSR equation coefficients </a:t>
            </a:r>
            <a:r>
              <a:rPr lang="en-US" altLang="zh-CN" sz="1600">
                <a:sym typeface="+mn-ea"/>
              </a:rPr>
              <a:t>x</a:t>
            </a:r>
            <a:r>
              <a:rPr lang="en-US" altLang="en-US" sz="1600">
                <a:sym typeface="+mn-ea"/>
              </a:rPr>
              <a:t>₀</a:t>
            </a:r>
            <a:r>
              <a:rPr lang="en-US" altLang="zh-CN" sz="1600">
                <a:sym typeface="+mn-ea"/>
              </a:rPr>
              <a:t>, x</a:t>
            </a:r>
            <a:r>
              <a:rPr lang="en-US" altLang="en-US" sz="1600">
                <a:sym typeface="+mn-ea"/>
              </a:rPr>
              <a:t>ᵢ</a:t>
            </a:r>
            <a:r>
              <a:rPr lang="en-US" altLang="zh-CN" sz="1600">
                <a:sym typeface="+mn-ea"/>
              </a:rPr>
              <a:t>, x</a:t>
            </a:r>
            <a:r>
              <a:rPr lang="en-US" altLang="en-US" sz="1600">
                <a:sym typeface="+mn-ea"/>
              </a:rPr>
              <a:t>ᵢᵢ and </a:t>
            </a:r>
            <a:r>
              <a:rPr lang="en-US" altLang="zh-CN" sz="1600">
                <a:sym typeface="+mn-ea"/>
              </a:rPr>
              <a:t>x</a:t>
            </a:r>
            <a:r>
              <a:rPr lang="en-US" altLang="en-US" sz="1600">
                <a:sym typeface="+mn-ea"/>
              </a:rPr>
              <a:t>ᵢⱼ</a:t>
            </a:r>
            <a:endParaRPr lang="en-US" sz="1600"/>
          </a:p>
          <a:p>
            <a:pPr marL="285750" indent="-285750">
              <a:buFont typeface="Arial" panose="020B0604020202020204" pitchFamily="34" charset="0"/>
              <a:buChar char="•"/>
            </a:pPr>
            <a:endParaRPr lang="en-US" sz="1600" b="1">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Step 1  -- </a:t>
            </a:r>
            <a:r>
              <a:rPr lang="en-US" altLang="zh-CN" dirty="0">
                <a:ea typeface="宋体"/>
              </a:rPr>
              <a:t>OACD table generation</a:t>
            </a:r>
          </a:p>
        </p:txBody>
      </p:sp>
      <p:sp>
        <p:nvSpPr>
          <p:cNvPr id="3" name="内容占位符 2"/>
          <p:cNvSpPr>
            <a:spLocks noGrp="1"/>
          </p:cNvSpPr>
          <p:nvPr>
            <p:ph idx="1"/>
          </p:nvPr>
        </p:nvSpPr>
        <p:spPr>
          <a:xfrm>
            <a:off x="838200" y="1825625"/>
            <a:ext cx="10515600" cy="4836246"/>
          </a:xfrm>
        </p:spPr>
        <p:txBody>
          <a:bodyPr vert="horz" lIns="91440" tIns="45720" rIns="91440" bIns="45720" rtlCol="0" anchor="t">
            <a:normAutofit fontScale="92500" lnSpcReduction="20000"/>
          </a:bodyPr>
          <a:lstStyle/>
          <a:p>
            <a:pPr marL="0" indent="0">
              <a:buNone/>
            </a:pPr>
            <a:r>
              <a:rPr lang="zh-CN" altLang="en-US">
                <a:ea typeface="宋体"/>
                <a:cs typeface="Calibri"/>
              </a:rPr>
              <a:t>Use OACD generation to create correct runs for your experiment</a:t>
            </a:r>
          </a:p>
          <a:p>
            <a:pPr>
              <a:buFont typeface="Arial"/>
              <a:buChar char="•"/>
            </a:pPr>
            <a:r>
              <a:rPr lang="en-US" altLang="zh-CN" dirty="0">
                <a:ea typeface="宋体"/>
                <a:cs typeface="Calibri"/>
              </a:rPr>
              <a:t>Navigate to the </a:t>
            </a:r>
            <a:r>
              <a:rPr lang="en-US" altLang="zh-CN" b="1" dirty="0">
                <a:ea typeface="宋体"/>
                <a:cs typeface="Calibri"/>
              </a:rPr>
              <a:t>OACD Table Builder</a:t>
            </a:r>
            <a:r>
              <a:rPr lang="en-US" altLang="zh-CN" dirty="0">
                <a:ea typeface="宋体"/>
                <a:cs typeface="Calibri"/>
              </a:rPr>
              <a:t> tab</a:t>
            </a:r>
          </a:p>
          <a:p>
            <a:pPr>
              <a:buFont typeface="Arial"/>
              <a:buChar char="•"/>
            </a:pPr>
            <a:r>
              <a:rPr lang="en-US" altLang="zh-CN" dirty="0">
                <a:ea typeface="宋体"/>
                <a:cs typeface="Calibri"/>
              </a:rPr>
              <a:t>Select </a:t>
            </a:r>
            <a:r>
              <a:rPr lang="en-US" altLang="zh-CN" b="1" dirty="0">
                <a:ea typeface="宋体"/>
                <a:cs typeface="Calibri"/>
              </a:rPr>
              <a:t>Number of Factors </a:t>
            </a:r>
            <a:r>
              <a:rPr lang="en-US" altLang="zh-CN" dirty="0">
                <a:ea typeface="宋体"/>
                <a:cs typeface="Calibri"/>
              </a:rPr>
              <a:t>–</a:t>
            </a:r>
            <a:r>
              <a:rPr lang="en-US" altLang="zh-CN" b="1" dirty="0">
                <a:ea typeface="宋体"/>
                <a:cs typeface="Calibri"/>
              </a:rPr>
              <a:t> </a:t>
            </a:r>
            <a:r>
              <a:rPr lang="en-US" altLang="zh-CN" dirty="0">
                <a:ea typeface="宋体"/>
                <a:cs typeface="Calibri"/>
              </a:rPr>
              <a:t>number of variables in the system</a:t>
            </a:r>
          </a:p>
          <a:p>
            <a:pPr>
              <a:buFont typeface="Arial"/>
              <a:buChar char="•"/>
            </a:pPr>
            <a:r>
              <a:rPr lang="en-US" altLang="zh-CN" dirty="0">
                <a:ea typeface="宋体"/>
                <a:cs typeface="Calibri"/>
              </a:rPr>
              <a:t>Select </a:t>
            </a:r>
            <a:r>
              <a:rPr lang="en-US" altLang="zh-CN" b="1" dirty="0">
                <a:ea typeface="宋体"/>
                <a:cs typeface="Calibri"/>
              </a:rPr>
              <a:t>Table Size</a:t>
            </a:r>
            <a:r>
              <a:rPr lang="en-US" altLang="zh-CN" dirty="0">
                <a:ea typeface="宋体"/>
                <a:cs typeface="Calibri"/>
              </a:rPr>
              <a:t> – this scales the number of runs in the experiment</a:t>
            </a:r>
          </a:p>
          <a:p>
            <a:pPr>
              <a:buFont typeface="Arial"/>
              <a:buChar char="•"/>
            </a:pPr>
            <a:r>
              <a:rPr lang="en-US" dirty="0">
                <a:ea typeface="Calibri"/>
                <a:cs typeface="Calibri"/>
              </a:rPr>
              <a:t>Under </a:t>
            </a:r>
            <a:r>
              <a:rPr lang="en-US" b="1" dirty="0">
                <a:ea typeface="Calibri"/>
                <a:cs typeface="Calibri"/>
              </a:rPr>
              <a:t>Factor Min/Max</a:t>
            </a:r>
            <a:r>
              <a:rPr lang="en-US" dirty="0">
                <a:ea typeface="Calibri"/>
                <a:cs typeface="Calibri"/>
              </a:rPr>
              <a:t>,</a:t>
            </a:r>
            <a:r>
              <a:rPr lang="en-US" b="1" dirty="0">
                <a:ea typeface="Calibri"/>
                <a:cs typeface="Calibri"/>
              </a:rPr>
              <a:t> </a:t>
            </a:r>
            <a:r>
              <a:rPr lang="en-US" dirty="0">
                <a:ea typeface="Calibri"/>
                <a:cs typeface="Calibri"/>
              </a:rPr>
              <a:t>s</a:t>
            </a:r>
            <a:r>
              <a:rPr lang="en-US" altLang="zh-CN" dirty="0">
                <a:ea typeface="宋体"/>
                <a:cs typeface="Calibri"/>
              </a:rPr>
              <a:t>et min and max values for each factor. Alternatively, you can import </a:t>
            </a:r>
            <a:r>
              <a:rPr lang="en-US" altLang="zh-CN" dirty="0" err="1">
                <a:ea typeface="宋体"/>
                <a:cs typeface="Calibri"/>
              </a:rPr>
              <a:t>extrenum</a:t>
            </a:r>
            <a:r>
              <a:rPr lang="en-US" altLang="zh-CN" dirty="0">
                <a:ea typeface="宋体"/>
                <a:cs typeface="Calibri"/>
              </a:rPr>
              <a:t> from a .xlsx file.</a:t>
            </a:r>
            <a:endParaRPr lang="en-US" altLang="zh-CN" b="1" dirty="0">
              <a:ea typeface="宋体"/>
              <a:cs typeface="Calibri"/>
            </a:endParaRPr>
          </a:p>
          <a:p>
            <a:pPr>
              <a:buFont typeface="Arial"/>
              <a:buChar char="•"/>
            </a:pPr>
            <a:r>
              <a:rPr lang="en-US" altLang="zh-CN" dirty="0">
                <a:ea typeface="宋体"/>
                <a:cs typeface="Calibri"/>
              </a:rPr>
              <a:t>If you only need a certain amount of factors to be non-zero, you can remove all experiments with more using </a:t>
            </a:r>
            <a:r>
              <a:rPr lang="en-US" altLang="zh-CN" b="1" dirty="0">
                <a:ea typeface="宋体"/>
                <a:cs typeface="Calibri"/>
              </a:rPr>
              <a:t>Max Nonzero Factors</a:t>
            </a:r>
          </a:p>
          <a:p>
            <a:pPr>
              <a:buFont typeface="Arial"/>
              <a:buChar char="•"/>
            </a:pPr>
            <a:r>
              <a:rPr lang="en-US" altLang="zh-CN" dirty="0">
                <a:ea typeface="宋体"/>
                <a:cs typeface="Calibri"/>
              </a:rPr>
              <a:t>If a limitation is needed (ex: C1 + C2 + C3 &lt; 100), add a limit in </a:t>
            </a:r>
            <a:r>
              <a:rPr lang="en-US" altLang="zh-CN" b="1" dirty="0">
                <a:ea typeface="宋体"/>
                <a:cs typeface="Calibri"/>
              </a:rPr>
              <a:t>Parameter Limits</a:t>
            </a:r>
            <a:r>
              <a:rPr lang="en-US" altLang="zh-CN" dirty="0">
                <a:ea typeface="宋体"/>
                <a:cs typeface="Calibri"/>
              </a:rPr>
              <a:t>, then select that limit next to the corresponding factors in </a:t>
            </a:r>
            <a:r>
              <a:rPr lang="en-US" altLang="zh-CN" b="1" dirty="0">
                <a:ea typeface="宋体"/>
                <a:cs typeface="Calibri"/>
              </a:rPr>
              <a:t>Factor Min/Max</a:t>
            </a:r>
          </a:p>
          <a:p>
            <a:pPr>
              <a:buFont typeface="Arial"/>
              <a:buChar char="•"/>
            </a:pPr>
            <a:r>
              <a:rPr lang="en-US" altLang="zh-CN" b="1" dirty="0">
                <a:ea typeface="宋体"/>
                <a:cs typeface="Calibri"/>
              </a:rPr>
              <a:t>Generate OACD Table</a:t>
            </a:r>
            <a:r>
              <a:rPr lang="en-US" altLang="zh-CN" dirty="0">
                <a:ea typeface="宋体"/>
                <a:cs typeface="Calibri"/>
              </a:rPr>
              <a:t>! You may then </a:t>
            </a:r>
            <a:r>
              <a:rPr lang="en-US" altLang="zh-CN" b="1" dirty="0">
                <a:ea typeface="宋体"/>
                <a:cs typeface="Calibri"/>
              </a:rPr>
              <a:t>Export as Excel </a:t>
            </a:r>
            <a:r>
              <a:rPr lang="en-US" altLang="zh-CN" dirty="0">
                <a:ea typeface="宋体"/>
                <a:cs typeface="Calibri"/>
              </a:rPr>
              <a:t>to have your experiment runs as a .xlsx file.</a:t>
            </a:r>
          </a:p>
          <a:p>
            <a:pPr marL="0" indent="0">
              <a:buNone/>
            </a:pPr>
            <a:endParaRPr lang="zh-CN" altLang="en-US" dirty="0">
              <a:ea typeface="宋体"/>
              <a:cs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Step 2 -- Load data</a:t>
            </a:r>
          </a:p>
        </p:txBody>
      </p:sp>
      <p:sp>
        <p:nvSpPr>
          <p:cNvPr id="3" name="Content Placeholder 2"/>
          <p:cNvSpPr>
            <a:spLocks noGrp="1"/>
          </p:cNvSpPr>
          <p:nvPr>
            <p:ph idx="1"/>
          </p:nvPr>
        </p:nvSpPr>
        <p:spPr/>
        <p:txBody>
          <a:bodyPr/>
          <a:lstStyle/>
          <a:p>
            <a:r>
              <a:rPr lang="en-US" altLang="en-US"/>
              <a:t>Navigate to the</a:t>
            </a:r>
            <a:r>
              <a:rPr lang="en-US"/>
              <a:t> </a:t>
            </a:r>
            <a:r>
              <a:rPr lang="en-US" b="1"/>
              <a:t>CSR Integration</a:t>
            </a:r>
            <a:r>
              <a:rPr lang="en-US"/>
              <a:t> tab --&gt; Click on </a:t>
            </a:r>
            <a:r>
              <a:rPr lang="en-US" b="1"/>
              <a:t>Select Data File</a:t>
            </a:r>
            <a:r>
              <a:rPr lang="en-US"/>
              <a:t> --&gt; Choose the </a:t>
            </a:r>
            <a:r>
              <a:rPr lang="en-US" b="1"/>
              <a:t>.xlsx</a:t>
            </a:r>
            <a:r>
              <a:rPr lang="en-US"/>
              <a:t> file containing experimental data</a:t>
            </a:r>
          </a:p>
          <a:p>
            <a:r>
              <a:rPr lang="en-US"/>
              <a:t>The .xlsx file must follow the following format:</a:t>
            </a:r>
          </a:p>
          <a:p>
            <a:pPr lvl="1"/>
            <a:r>
              <a:rPr lang="en-US" altLang="en-US"/>
              <a:t>The first row specifies the names of all factors and results</a:t>
            </a:r>
            <a:r>
              <a:rPr lang="en-US"/>
              <a:t> </a:t>
            </a:r>
          </a:p>
          <a:p>
            <a:pPr lvl="1"/>
            <a:r>
              <a:rPr lang="en-US"/>
              <a:t>S</a:t>
            </a:r>
            <a:r>
              <a:rPr lang="en-US" altLang="en-US"/>
              <a:t>ubsequent rows contain the corresponding data entries.</a:t>
            </a:r>
          </a:p>
          <a:p>
            <a:r>
              <a:rPr lang="en-US"/>
              <a:t>Example:</a:t>
            </a:r>
          </a:p>
        </p:txBody>
      </p:sp>
      <p:pic>
        <p:nvPicPr>
          <p:cNvPr id="5" name="Picture 4"/>
          <p:cNvPicPr>
            <a:picLocks noChangeAspect="1"/>
          </p:cNvPicPr>
          <p:nvPr/>
        </p:nvPicPr>
        <p:blipFill>
          <a:blip r:embed="rId2"/>
          <a:stretch>
            <a:fillRect/>
          </a:stretch>
        </p:blipFill>
        <p:spPr>
          <a:xfrm>
            <a:off x="4078605" y="4362450"/>
            <a:ext cx="4827270" cy="21564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sym typeface="+mn-ea"/>
              </a:rPr>
              <a:t>Step 3 -- Configure setting</a:t>
            </a:r>
            <a:endParaRPr lang="en-US"/>
          </a:p>
        </p:txBody>
      </p:sp>
      <p:sp>
        <p:nvSpPr>
          <p:cNvPr id="3" name="Content Placeholder 2"/>
          <p:cNvSpPr>
            <a:spLocks noGrp="1"/>
          </p:cNvSpPr>
          <p:nvPr>
            <p:ph idx="1"/>
          </p:nvPr>
        </p:nvSpPr>
        <p:spPr>
          <a:xfrm>
            <a:off x="521970" y="1825625"/>
            <a:ext cx="11012805" cy="4351655"/>
          </a:xfrm>
        </p:spPr>
        <p:txBody>
          <a:bodyPr>
            <a:noAutofit/>
          </a:bodyPr>
          <a:lstStyle/>
          <a:p>
            <a:r>
              <a:rPr lang="en-US" b="1"/>
              <a:t>Global Optimum</a:t>
            </a:r>
            <a:r>
              <a:rPr lang="en-US"/>
              <a:t>: Select between Maximum, Minimum, Maximum absolute value and </a:t>
            </a:r>
            <a:r>
              <a:rPr lang="en-US">
                <a:sym typeface="+mn-ea"/>
              </a:rPr>
              <a:t>Minimum absolute value </a:t>
            </a:r>
          </a:p>
          <a:p>
            <a:r>
              <a:rPr lang="en-US" b="1">
                <a:sym typeface="+mn-ea"/>
              </a:rPr>
              <a:t>Normalization</a:t>
            </a:r>
            <a:r>
              <a:rPr lang="en-US">
                <a:sym typeface="+mn-ea"/>
              </a:rPr>
              <a:t>: Select between [-1, 1] and  [0, 1]</a:t>
            </a:r>
          </a:p>
          <a:p>
            <a:r>
              <a:rPr lang="en-US" altLang="zh-CN">
                <a:sym typeface="+mn-ea"/>
              </a:rPr>
              <a:t>Under </a:t>
            </a:r>
            <a:r>
              <a:rPr lang="en-US" altLang="zh-CN" b="1">
                <a:sym typeface="+mn-ea"/>
              </a:rPr>
              <a:t>Parameter or Outcome?</a:t>
            </a:r>
            <a:r>
              <a:rPr lang="en-US" altLang="zh-CN">
                <a:sym typeface="+mn-ea"/>
              </a:rPr>
              <a:t>, select if the parameter belongs to parameter, outcome, or ignore. If more than one parameters are chosen, then multiple objective optimization is activated.</a:t>
            </a:r>
          </a:p>
          <a:p>
            <a:endParaRPr lang="en-US">
              <a:sym typeface="+mn-ea"/>
            </a:endParaRPr>
          </a:p>
          <a:p>
            <a:endParaRPr lang="en-US" b="1">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sym typeface="+mn-ea"/>
              </a:rPr>
              <a:t>Step 3 -- Configure setting</a:t>
            </a: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21970" y="1825625"/>
                <a:ext cx="11012805" cy="4351655"/>
              </a:xfrm>
            </p:spPr>
            <p:txBody>
              <a:bodyPr>
                <a:noAutofit/>
              </a:bodyPr>
              <a:lstStyle/>
              <a:p>
                <a:r>
                  <a:rPr lang="en-US" altLang="zh-CN">
                    <a:sym typeface="+mn-ea"/>
                  </a:rPr>
                  <a:t>If a parameter limitation is to be set (for example, </a:t>
                </a:r>
                <a14:m>
                  <m:oMath xmlns:m="http://schemas.openxmlformats.org/officeDocument/2006/math">
                    <m:sSub>
                      <m:sSubPr>
                        <m:ctrlPr>
                          <a:rPr lang="en-US" altLang="zh-CN" i="1">
                            <a:latin typeface="Cambria Math" panose="02040503050406030204" pitchFamily="18"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1</m:t>
                        </m:r>
                      </m:sub>
                    </m:sSub>
                    <m:r>
                      <a:rPr lang="en-US" altLang="zh-CN" i="1">
                        <a:latin typeface="Cambria Math" panose="02040503050406030204" charset="0"/>
                        <a:cs typeface="Cambria Math" panose="02040503050406030204" charset="0"/>
                        <a:sym typeface="+mn-ea"/>
                      </a:rPr>
                      <m:t>+</m:t>
                    </m:r>
                    <m:sSub>
                      <m:sSubPr>
                        <m:ctrlPr>
                          <a:rPr lang="en-US" altLang="zh-CN" i="1">
                            <a:latin typeface="Cambria Math" panose="02040503050406030204" pitchFamily="18"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2</m:t>
                        </m:r>
                      </m:sub>
                    </m:sSub>
                    <m:r>
                      <a:rPr lang="en-US" altLang="zh-CN" i="1">
                        <a:latin typeface="Cambria Math" panose="02040503050406030204" charset="0"/>
                        <a:cs typeface="Cambria Math" panose="02040503050406030204" charset="0"/>
                        <a:sym typeface="+mn-ea"/>
                      </a:rPr>
                      <m:t>+</m:t>
                    </m:r>
                    <m:sSub>
                      <m:sSubPr>
                        <m:ctrlPr>
                          <a:rPr lang="en-US" altLang="zh-CN" i="1">
                            <a:latin typeface="Cambria Math" panose="02040503050406030204" pitchFamily="18"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3</m:t>
                        </m:r>
                      </m:sub>
                    </m:sSub>
                    <m:r>
                      <a:rPr lang="en-US" altLang="zh-CN" i="1">
                        <a:latin typeface="Cambria Math" panose="02040503050406030204" charset="0"/>
                        <a:cs typeface="Cambria Math" panose="02040503050406030204" charset="0"/>
                        <a:sym typeface="+mn-ea"/>
                      </a:rPr>
                      <m:t>&lt;100</m:t>
                    </m:r>
                  </m:oMath>
                </a14:m>
                <a:r>
                  <a:rPr lang="en-US" altLang="zh-CN">
                    <a:sym typeface="+mn-ea"/>
                  </a:rPr>
                  <a:t>), navigate to </a:t>
                </a:r>
                <a:r>
                  <a:rPr lang="en-US" altLang="zh-CN" b="1">
                    <a:sym typeface="+mn-ea"/>
                  </a:rPr>
                  <a:t>Parameter Limits Section</a:t>
                </a:r>
                <a:r>
                  <a:rPr lang="en-US" altLang="zh-CN">
                    <a:sym typeface="+mn-ea"/>
                  </a:rPr>
                  <a:t>, click the checkbox if the factor should be included in that limit, then set limit value at </a:t>
                </a:r>
                <a:r>
                  <a:rPr lang="en-US" altLang="zh-CN" b="1">
                    <a:sym typeface="+mn-ea"/>
                  </a:rPr>
                  <a:t>CSR Factor Limits</a:t>
                </a:r>
                <a:r>
                  <a:rPr lang="en-US" altLang="zh-CN">
                    <a:sym typeface="+mn-ea"/>
                  </a:rPr>
                  <a:t>, click </a:t>
                </a:r>
                <a:r>
                  <a:rPr lang="en-US" altLang="zh-CN" b="1">
                    <a:sym typeface="+mn-ea"/>
                  </a:rPr>
                  <a:t>add limit</a:t>
                </a:r>
                <a:r>
                  <a:rPr lang="en-US" altLang="zh-CN">
                    <a:sym typeface="+mn-ea"/>
                  </a:rPr>
                  <a:t>. If the limit needs to be removed, click on </a:t>
                </a:r>
                <a:r>
                  <a:rPr lang="en-US" altLang="zh-CN" b="1">
                    <a:sym typeface="+mn-ea"/>
                  </a:rPr>
                  <a:t>Remove selected </a:t>
                </a:r>
                <a:r>
                  <a:rPr lang="en-US" altLang="zh-CN">
                    <a:sym typeface="+mn-ea"/>
                  </a:rPr>
                  <a:t>or </a:t>
                </a:r>
                <a:r>
                  <a:rPr lang="en-US" altLang="zh-CN" b="1">
                    <a:sym typeface="+mn-ea"/>
                  </a:rPr>
                  <a:t>Clear all</a:t>
                </a:r>
                <a:endParaRPr lang="en-US" altLang="zh-CN">
                  <a:sym typeface="+mn-ea"/>
                </a:endParaRPr>
              </a:p>
              <a:p>
                <a:r>
                  <a:rPr lang="en-US" altLang="zh-CN">
                    <a:sym typeface="+mn-ea"/>
                  </a:rPr>
                  <a:t>After all is set, click on </a:t>
                </a:r>
                <a:r>
                  <a:rPr lang="en-US" altLang="zh-CN" b="1">
                    <a:sym typeface="+mn-ea"/>
                  </a:rPr>
                  <a:t>Run Fitting Process</a:t>
                </a:r>
                <a:endParaRPr lang="en-US" altLang="zh-CN">
                  <a:sym typeface="+mn-ea"/>
                </a:endParaRPr>
              </a:p>
              <a:p>
                <a:endParaRPr lang="en-US" altLang="zh-CN">
                  <a:sym typeface="+mn-ea"/>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21970" y="1825625"/>
                <a:ext cx="11012805" cy="4351655"/>
              </a:xfrm>
              <a:blipFill>
                <a:blip r:embed="rId2"/>
                <a:stretch>
                  <a:fillRect l="-997" t="-2241" r="-664"/>
                </a:stretch>
              </a:blipFill>
            </p:spPr>
            <p:txBody>
              <a:bodyPr/>
              <a:lstStyle/>
              <a:p>
                <a:r>
                  <a:rPr 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sym typeface="+mn-ea"/>
              </a:rPr>
              <a:t>Step 4 -- Output</a:t>
            </a:r>
            <a:endParaRPr lang="en-US"/>
          </a:p>
        </p:txBody>
      </p:sp>
      <p:sp>
        <p:nvSpPr>
          <p:cNvPr id="3" name="Content Placeholder 2"/>
          <p:cNvSpPr>
            <a:spLocks noGrp="1"/>
          </p:cNvSpPr>
          <p:nvPr>
            <p:ph idx="1"/>
          </p:nvPr>
        </p:nvSpPr>
        <p:spPr>
          <a:xfrm>
            <a:off x="838200" y="1825625"/>
            <a:ext cx="10515600" cy="4940935"/>
          </a:xfrm>
        </p:spPr>
        <p:txBody>
          <a:bodyPr>
            <a:normAutofit lnSpcReduction="20000"/>
          </a:bodyPr>
          <a:lstStyle/>
          <a:p>
            <a:pPr fontAlgn="auto">
              <a:lnSpc>
                <a:spcPct val="90000"/>
              </a:lnSpc>
              <a:spcBef>
                <a:spcPts val="1300"/>
              </a:spcBef>
            </a:pPr>
            <a:r>
              <a:rPr lang="en-US" altLang="en-US" b="1"/>
              <a:t>CSR Equation </a:t>
            </a:r>
            <a:r>
              <a:rPr lang="en-US" altLang="en-US"/>
              <a:t>displays the numerical expression of the fitted equation.</a:t>
            </a:r>
          </a:p>
          <a:p>
            <a:pPr fontAlgn="auto">
              <a:lnSpc>
                <a:spcPct val="90000"/>
              </a:lnSpc>
              <a:spcBef>
                <a:spcPts val="1300"/>
              </a:spcBef>
            </a:pPr>
            <a:r>
              <a:rPr lang="en-US" altLang="en-US" b="1"/>
              <a:t>Parameter Definitions</a:t>
            </a:r>
            <a:r>
              <a:rPr lang="en-US" altLang="en-US"/>
              <a:t> list the names of the parameters used in the function.</a:t>
            </a:r>
          </a:p>
          <a:p>
            <a:pPr fontAlgn="auto">
              <a:lnSpc>
                <a:spcPct val="90000"/>
              </a:lnSpc>
              <a:spcBef>
                <a:spcPts val="1300"/>
              </a:spcBef>
            </a:pPr>
            <a:r>
              <a:rPr lang="en-US" altLang="en-US" b="1"/>
              <a:t>Extremum</a:t>
            </a:r>
            <a:r>
              <a:rPr lang="en-US" altLang="en-US"/>
              <a:t> indicates the maximum/minimum point of the plot. If multiple result columns are selected, then </a:t>
            </a:r>
            <a:r>
              <a:rPr lang="en-US" altLang="en-US" b="1"/>
              <a:t>Individual Results at Extremum</a:t>
            </a:r>
            <a:r>
              <a:rPr lang="en-US" altLang="en-US"/>
              <a:t> will be shown below</a:t>
            </a:r>
          </a:p>
          <a:p>
            <a:pPr fontAlgn="auto">
              <a:lnSpc>
                <a:spcPct val="90000"/>
              </a:lnSpc>
              <a:spcBef>
                <a:spcPts val="1300"/>
              </a:spcBef>
            </a:pPr>
            <a:r>
              <a:rPr lang="en-US" altLang="en-US" b="1"/>
              <a:t>Model Fit</a:t>
            </a:r>
            <a:r>
              <a:rPr lang="en-US" altLang="en-US"/>
              <a:t> provides the R-square and root mean square error (RMSE) value of the model</a:t>
            </a:r>
          </a:p>
          <a:p>
            <a:pPr fontAlgn="auto">
              <a:lnSpc>
                <a:spcPct val="90000"/>
              </a:lnSpc>
              <a:spcBef>
                <a:spcPts val="1300"/>
              </a:spcBef>
            </a:pPr>
            <a:r>
              <a:rPr lang="en-US" altLang="en-US" b="1"/>
              <a:t>Actual vs. Predicted Values</a:t>
            </a:r>
            <a:r>
              <a:rPr lang="en-US" altLang="en-US"/>
              <a:t> presents the deviations between predicted outcomes and observed data.</a:t>
            </a:r>
          </a:p>
          <a:p>
            <a:pPr fontAlgn="auto">
              <a:lnSpc>
                <a:spcPct val="90000"/>
              </a:lnSpc>
              <a:spcBef>
                <a:spcPts val="1300"/>
              </a:spcBef>
            </a:pPr>
            <a:r>
              <a:rPr lang="en-US" altLang="en-US" b="1"/>
              <a:t>CSR Response Surface Plot</a:t>
            </a:r>
            <a:r>
              <a:rPr lang="en-US" altLang="en-US"/>
              <a:t> provides a graphical representation of the fitted CSR function.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sym typeface="+mn-ea"/>
              </a:rPr>
              <a:t>Step 4 -- Output</a:t>
            </a:r>
            <a:endParaRPr lang="en-US"/>
          </a:p>
        </p:txBody>
      </p:sp>
      <p:sp>
        <p:nvSpPr>
          <p:cNvPr id="3" name="Content Placeholder 2"/>
          <p:cNvSpPr>
            <a:spLocks noGrp="1"/>
          </p:cNvSpPr>
          <p:nvPr>
            <p:ph idx="1"/>
          </p:nvPr>
        </p:nvSpPr>
        <p:spPr>
          <a:xfrm>
            <a:off x="838200" y="1825625"/>
            <a:ext cx="10124440" cy="4351655"/>
          </a:xfrm>
        </p:spPr>
        <p:txBody>
          <a:bodyPr/>
          <a:lstStyle/>
          <a:p>
            <a:r>
              <a:rPr lang="en-US" altLang="en-US">
                <a:sym typeface="+mn-ea"/>
              </a:rPr>
              <a:t>Navigate to the</a:t>
            </a:r>
            <a:r>
              <a:rPr lang="en-US">
                <a:sym typeface="+mn-ea"/>
              </a:rPr>
              <a:t> </a:t>
            </a:r>
            <a:r>
              <a:rPr lang="en-US" b="1">
                <a:sym typeface="+mn-ea"/>
              </a:rPr>
              <a:t>Coefficient analysis</a:t>
            </a:r>
            <a:r>
              <a:rPr lang="en-US">
                <a:sym typeface="+mn-ea"/>
              </a:rPr>
              <a:t> tab after fitting is complete</a:t>
            </a:r>
          </a:p>
          <a:p>
            <a:r>
              <a:rPr lang="en-US">
                <a:sym typeface="+mn-ea"/>
              </a:rPr>
              <a:t>In </a:t>
            </a:r>
            <a:r>
              <a:rPr lang="en-US" b="1">
                <a:sym typeface="+mn-ea"/>
              </a:rPr>
              <a:t>Analysis Controls </a:t>
            </a:r>
            <a:r>
              <a:rPr lang="en-US">
                <a:sym typeface="+mn-ea"/>
              </a:rPr>
              <a:t>select whether the coefficient shall be determined when the factors are at minimum, maximum or extremum</a:t>
            </a:r>
          </a:p>
          <a:p>
            <a:r>
              <a:rPr lang="en-US"/>
              <a:t>The pie charts demonstrate the distribution of the coefficient absolute values in terms of linear (</a:t>
            </a:r>
            <a:r>
              <a:rPr lang="en-US" altLang="zh-CN">
                <a:sym typeface="+mn-ea"/>
              </a:rPr>
              <a:t>x</a:t>
            </a:r>
            <a:r>
              <a:rPr lang="en-US" altLang="en-US">
                <a:sym typeface="+mn-ea"/>
              </a:rPr>
              <a:t>ᵢ</a:t>
            </a:r>
            <a:r>
              <a:rPr lang="en-US"/>
              <a:t>), quadratic (</a:t>
            </a:r>
            <a:r>
              <a:rPr lang="en-US" altLang="zh-CN">
                <a:sym typeface="+mn-ea"/>
              </a:rPr>
              <a:t>x</a:t>
            </a:r>
            <a:r>
              <a:rPr lang="en-US" altLang="en-US">
                <a:sym typeface="+mn-ea"/>
              </a:rPr>
              <a:t>ᵢᵢ</a:t>
            </a:r>
            <a:r>
              <a:rPr lang="en-US"/>
              <a:t>) and interaction (</a:t>
            </a:r>
            <a:r>
              <a:rPr lang="en-US" altLang="zh-CN">
                <a:sym typeface="+mn-ea"/>
              </a:rPr>
              <a:t>x</a:t>
            </a:r>
            <a:r>
              <a:rPr lang="en-US" altLang="en-US">
                <a:sym typeface="+mn-ea"/>
              </a:rPr>
              <a:t>ᵢⱼ</a:t>
            </a:r>
            <a:r>
              <a:rPr lang="en-US"/>
              <a:t>) terms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171.35,&quot;left&quot;:165.05,&quot;top&quot;:244.25,&quot;width&quot;:746.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7577</Words>
  <Application>Microsoft Office PowerPoint</Application>
  <PresentationFormat>Widescreen</PresentationFormat>
  <Paragraphs>169</Paragraphs>
  <Slides>13</Slides>
  <Notes>1</Notes>
  <HiddenSlides>0</HiddenSlides>
  <MMClips>0</MMClip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CSR APP Instruction</vt:lpstr>
      <vt:lpstr>Disclaimer</vt:lpstr>
      <vt:lpstr>Terminology</vt:lpstr>
      <vt:lpstr>Terminology</vt:lpstr>
      <vt:lpstr>Introduction to CSR Equation</vt:lpstr>
      <vt:lpstr>Introduction to CSR Equation</vt:lpstr>
      <vt:lpstr>Flow chart</vt:lpstr>
      <vt:lpstr>Step 1  -- OACD table generation</vt:lpstr>
      <vt:lpstr>Step 2 -- Load data</vt:lpstr>
      <vt:lpstr>Step 3 -- Configure setting</vt:lpstr>
      <vt:lpstr>Step 3 -- Configure setting</vt:lpstr>
      <vt:lpstr>Step 4 -- Output</vt:lpstr>
      <vt:lpstr>Step 4 --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Xinyang Tong</dc:creator>
  <cp:lastModifiedBy>cuzno</cp:lastModifiedBy>
  <cp:revision>308</cp:revision>
  <dcterms:created xsi:type="dcterms:W3CDTF">2025-07-23T00:59:00Z</dcterms:created>
  <dcterms:modified xsi:type="dcterms:W3CDTF">2025-11-21T09:25:51Z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53D98EA922644B478A13410A32A3BB50_13</vt:lpwstr>
  </property>
  <property fmtid="{D5CDD505-2E9C-101B-9397-08002B2CF9AE}" pid="3" name="KSOProductBuildVer">
    <vt:lpwstr>2052-12.1.0.23542</vt:lpwstr>
  </property>
</Properties>
</file>